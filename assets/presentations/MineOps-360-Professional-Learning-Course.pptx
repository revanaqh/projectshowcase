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2" d="100"/>
          <a:sy n="112" d="100"/>
        </p:scale>
        <p:origin x="5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80998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MineOps 360 as a learning project, not as a commercial product. The objective is professional acknowledgement: building an operational simulator to understand how mining movement, dispatch, disruptions, bottlenecks, road networks and fleet capacity interact.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frames the project as a learning method. It is important to say that the system is assumption-based because I am still seeking real mining exposure. The value is in how quickly the concepts were learned and translated into structured simulation logic.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system boundary. MineValue decides what is valuable and planned. MineOps asks whether that plan can physically be executed by fleet, roads, loading points and destinations.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capability in a simple course-like way. The key is that MineOps is an execution simulator. It lets me test whether the plan can move through the haulage system and what constraints appear during the shift.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explain how MineOps helped translate abstract production targets into physical truck cycles. The main mental model is that tonnes move through a network and every node/road can become a constraint.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key professional insight: hitting tonnes is not enough. The system should distinguish between waste movement, ore movement, stockpile build and reclaim because they have different operational value.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MineOps helped me think about road design and route risk. Road grade does not just make a nice map attribute; it directly affects truck speed, cycle time, throughput and fleet requirements.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purpose of this slide is to show that MineOps is not only a truck simulator. It is a way to learn operational diagnostics: where the bottleneck is and what kind of management response might be needed.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difference between static planning and live operational thinking. MineOps simulates disruptions so I can learn how production systems behave when reality is not perfect.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very important: the live manual loop is the part that lets me think like a dispatcher. It is not only about automation; it is a learning environment for making decisions when production conditions change.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links technical simulation to higher-level business thinking. The point is not that the numbers are final engineering advice, but that the system helped me understand how dispatch simulation can inform fleet-sizing and CAPEX discussion.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positioning MineOps 360 as a professional learning artifact. Emphasize humility: the system is assumption-based and built for learning. It shows fast learning, creative thinking and critical thinking in an unfamiliar domain.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HITE">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6492240"/>
            <a:ext cx="11201400" cy="0"/>
          </a:xfrm>
          <a:prstGeom prst="line">
            <a:avLst/>
          </a:prstGeom>
          <a:noFill/>
          <a:ln w="7620">
            <a:solidFill>
              <a:srgbClr val="E5E7EB"/>
            </a:solidFill>
            <a:prstDash val="solid"/>
          </a:ln>
        </p:spPr>
        <p:txBody>
          <a:bodyPr/>
          <a:lstStyle/>
          <a:p>
            <a:endParaRPr lang="en-US"/>
          </a:p>
        </p:txBody>
      </p:sp>
      <p:sp>
        <p:nvSpPr>
          <p:cNvPr id="3" name="Text 1"/>
          <p:cNvSpPr/>
          <p:nvPr/>
        </p:nvSpPr>
        <p:spPr>
          <a:xfrm>
            <a:off x="566928" y="6565392"/>
            <a:ext cx="6949440" cy="164592"/>
          </a:xfrm>
          <a:prstGeom prst="rect">
            <a:avLst/>
          </a:prstGeom>
          <a:noFill/>
          <a:ln/>
        </p:spPr>
        <p:txBody>
          <a:bodyPr wrap="square" lIns="0" tIns="0" rIns="0" bIns="0" rtlCol="0" anchor="ctr"/>
          <a:lstStyle/>
          <a:p>
            <a:pPr marL="0" indent="0">
              <a:buNone/>
            </a:pPr>
            <a:r>
              <a:rPr lang="en-US" sz="680" dirty="0">
                <a:solidFill>
                  <a:srgbClr val="64748B"/>
                </a:solidFill>
                <a:latin typeface="Aptos" pitchFamily="34" charset="0"/>
                <a:ea typeface="Aptos" pitchFamily="34" charset="-122"/>
                <a:cs typeface="Aptos" pitchFamily="34" charset="-120"/>
              </a:rPr>
              <a:t>MineOps 360 • learning dispatch, haulage and operational movement logic</a:t>
            </a:r>
            <a:endParaRPr lang="en-US" sz="680" dirty="0"/>
          </a:p>
        </p:txBody>
      </p:sp>
      <p:sp>
        <p:nvSpPr>
          <p:cNvPr id="25" name="Slide Number Placeholder 0"/>
          <p:cNvSpPr>
            <a:spLocks noGrp="1"/>
          </p:cNvSpPr>
          <p:nvPr>
            <p:ph type="sldNum" sz="quarter" idx="4294967295"/>
          </p:nvPr>
        </p:nvSpPr>
        <p:spPr>
          <a:xfrm>
            <a:off x="11384280" y="6528816"/>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528816"/>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mnt/data/open_pit_mine.png"/>
          <p:cNvPicPr>
            <a:picLocks noChangeAspect="1"/>
          </p:cNvPicPr>
          <p:nvPr/>
        </p:nvPicPr>
        <p:blipFill>
          <a:blip r:embed="rId3"/>
          <a:srcRect l="2862" r="2862"/>
          <a:stretch/>
        </p:blipFill>
        <p:spPr>
          <a:xfrm>
            <a:off x="6510528" y="411480"/>
            <a:ext cx="5193792" cy="5577840"/>
          </a:xfrm>
          <a:prstGeom prst="rect">
            <a:avLst/>
          </a:prstGeom>
        </p:spPr>
      </p:pic>
      <p:sp>
        <p:nvSpPr>
          <p:cNvPr id="4" name="Text 1"/>
          <p:cNvSpPr/>
          <p:nvPr/>
        </p:nvSpPr>
        <p:spPr>
          <a:xfrm>
            <a:off x="594360" y="749808"/>
            <a:ext cx="5120640" cy="530352"/>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MineOps 360</a:t>
            </a:r>
            <a:endParaRPr lang="en-US" sz="2800" dirty="0"/>
          </a:p>
        </p:txBody>
      </p:sp>
      <p:sp>
        <p:nvSpPr>
          <p:cNvPr id="5" name="Text 2"/>
          <p:cNvSpPr/>
          <p:nvPr/>
        </p:nvSpPr>
        <p:spPr>
          <a:xfrm>
            <a:off x="594360" y="1389888"/>
            <a:ext cx="5303520" cy="914400"/>
          </a:xfrm>
          <a:prstGeom prst="rect">
            <a:avLst/>
          </a:prstGeom>
          <a:noFill/>
          <a:ln/>
        </p:spPr>
        <p:txBody>
          <a:bodyPr wrap="square" lIns="0" tIns="0" rIns="0" bIns="0" rtlCol="0" anchor="ctr">
            <a:normAutofit/>
          </a:bodyPr>
          <a:lstStyle/>
          <a:p>
            <a:pPr marL="0" indent="0">
              <a:buNone/>
            </a:pPr>
            <a:r>
              <a:rPr lang="en-US" sz="1700" dirty="0">
                <a:solidFill>
                  <a:srgbClr val="334155"/>
                </a:solidFill>
                <a:latin typeface="Aptos" pitchFamily="34" charset="0"/>
                <a:ea typeface="Aptos" pitchFamily="34" charset="-122"/>
                <a:cs typeface="Aptos" pitchFamily="34" charset="-120"/>
              </a:rPr>
              <a:t>Learning operational movement, dispatch logic and production execution thinking</a:t>
            </a:r>
            <a:endParaRPr lang="en-US" sz="1700" dirty="0"/>
          </a:p>
        </p:txBody>
      </p:sp>
      <p:sp>
        <p:nvSpPr>
          <p:cNvPr id="6" name="Text 3"/>
          <p:cNvSpPr/>
          <p:nvPr/>
        </p:nvSpPr>
        <p:spPr>
          <a:xfrm>
            <a:off x="594360" y="2542032"/>
            <a:ext cx="2057400" cy="301752"/>
          </a:xfrm>
          <a:prstGeom prst="rect">
            <a:avLst/>
          </a:prstGeom>
          <a:solidFill>
            <a:srgbClr val="2563EB"/>
          </a:solidFill>
          <a:ln>
            <a:solidFill>
              <a:srgbClr val="2563EB">
                <a:alpha val="0"/>
              </a:srgbClr>
            </a:solidFill>
          </a:ln>
        </p:spPr>
        <p:txBody>
          <a:bodyPr wrap="square" lIns="508" tIns="508" rIns="508" bIns="508"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Professional learning course</a:t>
            </a:r>
            <a:endParaRPr lang="en-US" sz="950" dirty="0"/>
          </a:p>
        </p:txBody>
      </p:sp>
      <p:sp>
        <p:nvSpPr>
          <p:cNvPr id="7" name="Text 4"/>
          <p:cNvSpPr/>
          <p:nvPr/>
        </p:nvSpPr>
        <p:spPr>
          <a:xfrm>
            <a:off x="2816352" y="2542032"/>
            <a:ext cx="2148840" cy="301752"/>
          </a:xfrm>
          <a:prstGeom prst="rect">
            <a:avLst/>
          </a:prstGeom>
          <a:solidFill>
            <a:srgbClr val="16A34A"/>
          </a:solidFill>
          <a:ln>
            <a:solidFill>
              <a:srgbClr val="16A34A">
                <a:alpha val="0"/>
              </a:srgbClr>
            </a:solidFill>
          </a:ln>
        </p:spPr>
        <p:txBody>
          <a:bodyPr wrap="square" lIns="508" tIns="508" rIns="508" bIns="508"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Mining movement simulation</a:t>
            </a:r>
            <a:endParaRPr lang="en-US" sz="950" dirty="0"/>
          </a:p>
        </p:txBody>
      </p:sp>
      <p:sp>
        <p:nvSpPr>
          <p:cNvPr id="8" name="Text 5"/>
          <p:cNvSpPr/>
          <p:nvPr/>
        </p:nvSpPr>
        <p:spPr>
          <a:xfrm>
            <a:off x="594360" y="3383280"/>
            <a:ext cx="5074920" cy="1051560"/>
          </a:xfrm>
          <a:prstGeom prst="rect">
            <a:avLst/>
          </a:prstGeom>
          <a:noFill/>
          <a:ln/>
        </p:spPr>
        <p:txBody>
          <a:bodyPr wrap="square" lIns="635" tIns="635" rIns="635" bIns="635" rtlCol="0" anchor="ctr">
            <a:normAutofit/>
          </a:bodyPr>
          <a:lstStyle/>
          <a:p>
            <a:pPr marL="0" indent="0">
              <a:buNone/>
            </a:pPr>
            <a:r>
              <a:rPr lang="en-US" sz="1800" b="1" dirty="0">
                <a:solidFill>
                  <a:srgbClr val="0F172A"/>
                </a:solidFill>
                <a:latin typeface="Aptos Display" pitchFamily="34" charset="0"/>
                <a:ea typeface="Aptos Display" pitchFamily="34" charset="-122"/>
                <a:cs typeface="Aptos Display" pitchFamily="34" charset="-120"/>
              </a:rPr>
              <a:t>Built to think beyond “what should be mined” — into “can the operation execute it?”</a:t>
            </a:r>
            <a:endParaRPr lang="en-US" sz="1800" dirty="0"/>
          </a:p>
        </p:txBody>
      </p:sp>
      <p:sp>
        <p:nvSpPr>
          <p:cNvPr id="9" name="Text 6"/>
          <p:cNvSpPr/>
          <p:nvPr/>
        </p:nvSpPr>
        <p:spPr>
          <a:xfrm>
            <a:off x="594360" y="5074920"/>
            <a:ext cx="1783080" cy="804672"/>
          </a:xfrm>
          <a:prstGeom prst="rect">
            <a:avLst/>
          </a:prstGeom>
          <a:solidFill>
            <a:srgbClr val="F8FAFC"/>
          </a:solidFill>
          <a:ln w="10160">
            <a:solidFill>
              <a:srgbClr val="E2E8F0"/>
            </a:solidFill>
          </a:ln>
        </p:spPr>
        <p:txBody>
          <a:bodyPr wrap="square" lIns="91440" tIns="1016" rIns="1016" bIns="1016" rtlCol="0" anchor="ctr">
            <a:normAutofit lnSpcReduction="10000"/>
          </a:bodyPr>
          <a:lstStyle/>
          <a:p>
            <a:pPr marL="0" indent="0">
              <a:buNone/>
            </a:pPr>
            <a:r>
              <a:rPr lang="en-US" b="1" dirty="0">
                <a:solidFill>
                  <a:srgbClr val="2563EB"/>
                </a:solidFill>
                <a:latin typeface="Aptos Display" pitchFamily="34" charset="0"/>
                <a:ea typeface="Aptos Display" pitchFamily="34" charset="-122"/>
                <a:cs typeface="Aptos Display" pitchFamily="34" charset="-120"/>
              </a:rPr>
              <a:t>0 → system</a:t>
            </a:r>
            <a:endParaRPr lang="en-US" dirty="0"/>
          </a:p>
          <a:p>
            <a:pPr marL="0" indent="0">
              <a:buNone/>
            </a:pPr>
            <a:r>
              <a:rPr lang="en-US" b="1" dirty="0">
                <a:solidFill>
                  <a:srgbClr val="2563EB"/>
                </a:solidFill>
                <a:latin typeface="Aptos Display" pitchFamily="34" charset="0"/>
                <a:ea typeface="Aptos Display" pitchFamily="34" charset="-122"/>
                <a:cs typeface="Aptos Display" pitchFamily="34" charset="-120"/>
              </a:rPr>
              <a:t>started without field exposure</a:t>
            </a:r>
            <a:endParaRPr lang="en-US" dirty="0"/>
          </a:p>
        </p:txBody>
      </p:sp>
      <p:sp>
        <p:nvSpPr>
          <p:cNvPr id="10" name="Text 7"/>
          <p:cNvSpPr/>
          <p:nvPr/>
        </p:nvSpPr>
        <p:spPr>
          <a:xfrm>
            <a:off x="2560319" y="5074920"/>
            <a:ext cx="1802393" cy="804672"/>
          </a:xfrm>
          <a:prstGeom prst="rect">
            <a:avLst/>
          </a:prstGeom>
          <a:solidFill>
            <a:srgbClr val="F8FAFC"/>
          </a:solidFill>
          <a:ln w="10160">
            <a:solidFill>
              <a:srgbClr val="E2E8F0"/>
            </a:solidFill>
          </a:ln>
        </p:spPr>
        <p:txBody>
          <a:bodyPr wrap="square" lIns="91440" tIns="1016" rIns="1016" bIns="1016" rtlCol="0" anchor="ctr">
            <a:normAutofit lnSpcReduction="10000"/>
          </a:bodyPr>
          <a:lstStyle/>
          <a:p>
            <a:pPr marL="0" indent="0">
              <a:buNone/>
            </a:pPr>
            <a:r>
              <a:rPr lang="en-US" b="1" dirty="0">
                <a:solidFill>
                  <a:srgbClr val="EA580C"/>
                </a:solidFill>
                <a:latin typeface="Aptos Display" pitchFamily="34" charset="0"/>
                <a:ea typeface="Aptos Display" pitchFamily="34" charset="-122"/>
                <a:cs typeface="Aptos Display" pitchFamily="34" charset="-120"/>
              </a:rPr>
              <a:t>MineOps</a:t>
            </a:r>
            <a:endParaRPr lang="en-US" dirty="0"/>
          </a:p>
          <a:p>
            <a:pPr marL="0" indent="0">
              <a:buNone/>
            </a:pPr>
            <a:r>
              <a:rPr lang="en-US" b="1" dirty="0">
                <a:solidFill>
                  <a:srgbClr val="EA580C"/>
                </a:solidFill>
                <a:latin typeface="Aptos Display" pitchFamily="34" charset="0"/>
                <a:ea typeface="Aptos Display" pitchFamily="34" charset="-122"/>
                <a:cs typeface="Aptos Display" pitchFamily="34" charset="-120"/>
              </a:rPr>
              <a:t>execution learning layer</a:t>
            </a:r>
            <a:endParaRPr lang="en-US" dirty="0"/>
          </a:p>
        </p:txBody>
      </p:sp>
      <p:sp>
        <p:nvSpPr>
          <p:cNvPr id="11" name="Text 8"/>
          <p:cNvSpPr/>
          <p:nvPr/>
        </p:nvSpPr>
        <p:spPr>
          <a:xfrm>
            <a:off x="4526280" y="5074920"/>
            <a:ext cx="1783080" cy="804672"/>
          </a:xfrm>
          <a:prstGeom prst="rect">
            <a:avLst/>
          </a:prstGeom>
          <a:solidFill>
            <a:srgbClr val="F8FAFC"/>
          </a:solidFill>
          <a:ln w="10160">
            <a:solidFill>
              <a:srgbClr val="E2E8F0"/>
            </a:solidFill>
          </a:ln>
        </p:spPr>
        <p:txBody>
          <a:bodyPr wrap="square" lIns="91440" tIns="1016" rIns="1016" bIns="1016" rtlCol="0" anchor="ctr">
            <a:normAutofit lnSpcReduction="10000"/>
          </a:bodyPr>
          <a:lstStyle/>
          <a:p>
            <a:pPr marL="0" indent="0">
              <a:buNone/>
            </a:pPr>
            <a:r>
              <a:rPr lang="en-US" b="1" dirty="0">
                <a:solidFill>
                  <a:srgbClr val="16A34A"/>
                </a:solidFill>
                <a:latin typeface="Aptos Display" pitchFamily="34" charset="0"/>
                <a:ea typeface="Aptos Display" pitchFamily="34" charset="-122"/>
                <a:cs typeface="Aptos Display" pitchFamily="34" charset="-120"/>
              </a:rPr>
              <a:t>CAPEX lens</a:t>
            </a:r>
            <a:endParaRPr lang="en-US" dirty="0"/>
          </a:p>
          <a:p>
            <a:pPr marL="0" indent="0">
              <a:buNone/>
            </a:pPr>
            <a:r>
              <a:rPr lang="en-US" b="1" dirty="0">
                <a:solidFill>
                  <a:srgbClr val="16A34A"/>
                </a:solidFill>
                <a:latin typeface="Aptos Display" pitchFamily="34" charset="0"/>
                <a:ea typeface="Aptos Display" pitchFamily="34" charset="-122"/>
                <a:cs typeface="Aptos Display" pitchFamily="34" charset="-120"/>
              </a:rPr>
              <a:t>fleet stress-testing</a:t>
            </a:r>
            <a:endParaRPr lang="en-US" dirty="0"/>
          </a:p>
        </p:txBody>
      </p:sp>
      <p:sp>
        <p:nvSpPr>
          <p:cNvPr id="25" name="Slide Number Placeholder 0"/>
          <p:cNvSpPr>
            <a:spLocks noGrp="1"/>
          </p:cNvSpPr>
          <p:nvPr>
            <p:ph type="sldNum" sz="quarter" idx="4294967295"/>
          </p:nvPr>
        </p:nvSpPr>
        <p:spPr>
          <a:xfrm>
            <a:off x="11384280" y="6528816"/>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274320"/>
            <a:ext cx="4206240" cy="201168"/>
          </a:xfrm>
          <a:prstGeom prst="rect">
            <a:avLst/>
          </a:prstGeom>
          <a:noFill/>
          <a:ln/>
        </p:spPr>
        <p:txBody>
          <a:bodyPr wrap="square" lIns="0" tIns="0" rIns="0" bIns="0" rtlCol="0" anchor="ctr"/>
          <a:lstStyle/>
          <a:p>
            <a:pPr marL="0" indent="0">
              <a:buNone/>
            </a:pPr>
            <a:r>
              <a:rPr lang="en-US" sz="850" b="1" dirty="0">
                <a:solidFill>
                  <a:srgbClr val="2563EB"/>
                </a:solidFill>
                <a:latin typeface="Aptos" pitchFamily="34" charset="0"/>
                <a:ea typeface="Aptos" pitchFamily="34" charset="-122"/>
                <a:cs typeface="Aptos" pitchFamily="34" charset="-120"/>
              </a:rPr>
              <a:t>Learning journey</a:t>
            </a:r>
            <a:endParaRPr lang="en-US" sz="850" dirty="0"/>
          </a:p>
        </p:txBody>
      </p:sp>
      <p:sp>
        <p:nvSpPr>
          <p:cNvPr id="3" name="Text 1"/>
          <p:cNvSpPr/>
          <p:nvPr/>
        </p:nvSpPr>
        <p:spPr>
          <a:xfrm>
            <a:off x="566928" y="530352"/>
            <a:ext cx="7680960" cy="475488"/>
          </a:xfrm>
          <a:prstGeom prst="rect">
            <a:avLst/>
          </a:prstGeom>
          <a:noFill/>
          <a:ln/>
        </p:spPr>
        <p:txBody>
          <a:bodyPr wrap="square" lIns="0" tIns="0" rIns="0" bIns="0" rtlCol="0" anchor="ctr"/>
          <a:lstStyle/>
          <a:p>
            <a:pPr marL="0" indent="0">
              <a:buNone/>
            </a:pPr>
            <a:r>
              <a:rPr lang="en-US" sz="2200" b="1" dirty="0">
                <a:solidFill>
                  <a:srgbClr val="0F172A"/>
                </a:solidFill>
                <a:latin typeface="Aptos Display" pitchFamily="34" charset="0"/>
                <a:ea typeface="Aptos Display" pitchFamily="34" charset="-122"/>
                <a:cs typeface="Aptos Display" pitchFamily="34" charset="-120"/>
              </a:rPr>
              <a:t>Why I built MineOps 360</a:t>
            </a:r>
            <a:endParaRPr lang="en-US" sz="2200" dirty="0"/>
          </a:p>
        </p:txBody>
      </p:sp>
      <p:sp>
        <p:nvSpPr>
          <p:cNvPr id="4" name="Shape 2"/>
          <p:cNvSpPr/>
          <p:nvPr/>
        </p:nvSpPr>
        <p:spPr>
          <a:xfrm>
            <a:off x="566928" y="1078992"/>
            <a:ext cx="11064240" cy="0"/>
          </a:xfrm>
          <a:prstGeom prst="line">
            <a:avLst/>
          </a:prstGeom>
          <a:noFill/>
          <a:ln w="12700">
            <a:solidFill>
              <a:srgbClr val="E2E8F0"/>
            </a:solidFill>
            <a:prstDash val="solid"/>
          </a:ln>
        </p:spPr>
        <p:txBody>
          <a:bodyPr/>
          <a:lstStyle/>
          <a:p>
            <a:endParaRPr lang="en-US"/>
          </a:p>
        </p:txBody>
      </p:sp>
      <p:sp>
        <p:nvSpPr>
          <p:cNvPr id="6" name="Text 3"/>
          <p:cNvSpPr/>
          <p:nvPr/>
        </p:nvSpPr>
        <p:spPr>
          <a:xfrm>
            <a:off x="658368" y="1389888"/>
            <a:ext cx="5394960" cy="1115568"/>
          </a:xfrm>
          <a:prstGeom prst="rect">
            <a:avLst/>
          </a:prstGeom>
          <a:noFill/>
          <a:ln/>
        </p:spPr>
        <p:txBody>
          <a:bodyPr wrap="square" lIns="635" tIns="635" rIns="635" bIns="635" rtlCol="0" anchor="ctr">
            <a:normAutofit/>
          </a:bodyPr>
          <a:lstStyle/>
          <a:p>
            <a:pPr marL="0" indent="0">
              <a:buNone/>
            </a:pPr>
            <a:r>
              <a:rPr lang="en-US" sz="1800" b="1" dirty="0">
                <a:solidFill>
                  <a:srgbClr val="0F172A"/>
                </a:solidFill>
                <a:latin typeface="Aptos Display" pitchFamily="34" charset="0"/>
                <a:ea typeface="Aptos Display" pitchFamily="34" charset="-122"/>
                <a:cs typeface="Aptos Display" pitchFamily="34" charset="-120"/>
              </a:rPr>
              <a:t>I wanted a way to learn how real mining movement might be controlled — from plan to execution.</a:t>
            </a:r>
            <a:endParaRPr lang="en-US" sz="1800" dirty="0"/>
          </a:p>
        </p:txBody>
      </p:sp>
      <p:sp>
        <p:nvSpPr>
          <p:cNvPr id="7" name="Text 4"/>
          <p:cNvSpPr/>
          <p:nvPr/>
        </p:nvSpPr>
        <p:spPr>
          <a:xfrm>
            <a:off x="713232" y="2677822"/>
            <a:ext cx="5212080" cy="1691640"/>
          </a:xfrm>
          <a:prstGeom prst="rect">
            <a:avLst/>
          </a:prstGeom>
          <a:noFill/>
          <a:ln/>
        </p:spPr>
        <p:txBody>
          <a:bodyPr wrap="square" lIns="762" tIns="762" rIns="762" bIns="762" rtlCol="0" anchor="ctr">
            <a:normAutofit/>
          </a:bodyPr>
          <a:lstStyle/>
          <a:p>
            <a:r>
              <a:rPr lang="en-US" sz="1220" dirty="0">
                <a:solidFill>
                  <a:srgbClr val="334155"/>
                </a:solidFill>
                <a:latin typeface="Aptos" pitchFamily="34" charset="0"/>
                <a:ea typeface="Aptos" pitchFamily="34" charset="-122"/>
                <a:cs typeface="Aptos" pitchFamily="34" charset="-120"/>
              </a:rPr>
              <a:t>Started with no direct mine-dispatch or field-operation exposure.</a:t>
            </a:r>
            <a:endParaRPr lang="en-US" sz="1220" dirty="0"/>
          </a:p>
          <a:p>
            <a:r>
              <a:rPr lang="en-US" sz="1220" dirty="0">
                <a:solidFill>
                  <a:srgbClr val="334155"/>
                </a:solidFill>
                <a:latin typeface="Aptos" pitchFamily="34" charset="0"/>
                <a:ea typeface="Aptos" pitchFamily="34" charset="-122"/>
                <a:cs typeface="Aptos" pitchFamily="34" charset="-120"/>
              </a:rPr>
              <a:t>Used assumptions, research and repeated critical thinking to build operational logic.</a:t>
            </a:r>
            <a:endParaRPr lang="en-US" sz="1220" dirty="0"/>
          </a:p>
          <a:p>
            <a:r>
              <a:rPr lang="en-US" sz="1220" dirty="0">
                <a:solidFill>
                  <a:srgbClr val="334155"/>
                </a:solidFill>
                <a:latin typeface="Aptos" pitchFamily="34" charset="0"/>
                <a:ea typeface="Aptos" pitchFamily="34" charset="-122"/>
                <a:cs typeface="Aptos" pitchFamily="34" charset="-120"/>
              </a:rPr>
              <a:t>Goal: learn high-level role knowledge by building the decision environment, not just reading terms.</a:t>
            </a:r>
            <a:endParaRPr lang="en-US" sz="1220" dirty="0"/>
          </a:p>
        </p:txBody>
      </p:sp>
      <p:sp>
        <p:nvSpPr>
          <p:cNvPr id="8" name="Text 5"/>
          <p:cNvSpPr/>
          <p:nvPr/>
        </p:nvSpPr>
        <p:spPr>
          <a:xfrm>
            <a:off x="713232" y="4892040"/>
            <a:ext cx="2423160" cy="822960"/>
          </a:xfrm>
          <a:prstGeom prst="rect">
            <a:avLst/>
          </a:prstGeom>
          <a:solidFill>
            <a:srgbClr val="FFFFFF"/>
          </a:solidFill>
          <a:ln w="13970">
            <a:solidFill>
              <a:srgbClr val="E5E7EB"/>
            </a:solidFill>
          </a:ln>
        </p:spPr>
        <p:txBody>
          <a:bodyPr wrap="square" lIns="91440" tIns="1651" rIns="1651" bIns="1651" rtlCol="0" anchor="ctr">
            <a:normAutofit/>
          </a:bodyPr>
          <a:lstStyle/>
          <a:p>
            <a:pPr marL="0" indent="0">
              <a:buNone/>
            </a:pPr>
            <a:r>
              <a:rPr lang="en-US" sz="1050" dirty="0">
                <a:solidFill>
                  <a:srgbClr val="334155"/>
                </a:solidFill>
                <a:latin typeface="Aptos" pitchFamily="34" charset="0"/>
                <a:ea typeface="Aptos" pitchFamily="34" charset="-122"/>
                <a:cs typeface="Aptos" pitchFamily="34" charset="-120"/>
              </a:rPr>
              <a:t>01  Learning mindset</a:t>
            </a:r>
            <a:endParaRPr lang="en-US" sz="1050" dirty="0"/>
          </a:p>
          <a:p>
            <a:pPr marL="0" indent="0">
              <a:buNone/>
            </a:pPr>
            <a:r>
              <a:rPr lang="en-US" sz="1050" dirty="0">
                <a:solidFill>
                  <a:srgbClr val="334155"/>
                </a:solidFill>
                <a:latin typeface="Aptos" pitchFamily="34" charset="0"/>
                <a:ea typeface="Aptos" pitchFamily="34" charset="-122"/>
                <a:cs typeface="Aptos" pitchFamily="34" charset="-120"/>
              </a:rPr>
              <a:t>Every new feature was added after asking: what would real production care about?</a:t>
            </a:r>
            <a:endParaRPr lang="en-US" sz="1050" dirty="0"/>
          </a:p>
        </p:txBody>
      </p:sp>
      <p:sp>
        <p:nvSpPr>
          <p:cNvPr id="9" name="Shape 6"/>
          <p:cNvSpPr/>
          <p:nvPr/>
        </p:nvSpPr>
        <p:spPr>
          <a:xfrm>
            <a:off x="627776" y="4892040"/>
            <a:ext cx="73152" cy="822960"/>
          </a:xfrm>
          <a:prstGeom prst="rect">
            <a:avLst/>
          </a:prstGeom>
          <a:solidFill>
            <a:srgbClr val="2563EB"/>
          </a:solidFill>
          <a:ln w="12700">
            <a:solidFill>
              <a:srgbClr val="2563EB">
                <a:alpha val="0"/>
              </a:srgbClr>
            </a:solidFill>
            <a:prstDash val="solid"/>
          </a:ln>
        </p:spPr>
        <p:txBody>
          <a:bodyPr/>
          <a:lstStyle/>
          <a:p>
            <a:endParaRPr lang="en-US"/>
          </a:p>
        </p:txBody>
      </p:sp>
      <p:sp>
        <p:nvSpPr>
          <p:cNvPr id="10" name="Text 7"/>
          <p:cNvSpPr/>
          <p:nvPr/>
        </p:nvSpPr>
        <p:spPr>
          <a:xfrm>
            <a:off x="3429000" y="4892040"/>
            <a:ext cx="2670048" cy="822960"/>
          </a:xfrm>
          <a:prstGeom prst="rect">
            <a:avLst/>
          </a:prstGeom>
          <a:solidFill>
            <a:srgbClr val="FFFFFF"/>
          </a:solidFill>
          <a:ln w="13970">
            <a:solidFill>
              <a:srgbClr val="E5E7EB"/>
            </a:solidFill>
          </a:ln>
        </p:spPr>
        <p:txBody>
          <a:bodyPr wrap="square" lIns="91440" tIns="1651" rIns="1651" bIns="1651" rtlCol="0" anchor="ctr">
            <a:normAutofit/>
          </a:bodyPr>
          <a:lstStyle/>
          <a:p>
            <a:pPr marL="0" indent="0">
              <a:buNone/>
            </a:pPr>
            <a:r>
              <a:rPr lang="en-US" sz="1050" dirty="0">
                <a:solidFill>
                  <a:srgbClr val="334155"/>
                </a:solidFill>
                <a:latin typeface="Aptos" pitchFamily="34" charset="0"/>
                <a:ea typeface="Aptos" pitchFamily="34" charset="-122"/>
                <a:cs typeface="Aptos" pitchFamily="34" charset="-120"/>
              </a:rPr>
              <a:t>02  Capability signal</a:t>
            </a:r>
            <a:endParaRPr lang="en-US" sz="1050" dirty="0"/>
          </a:p>
          <a:p>
            <a:pPr marL="0" indent="0">
              <a:buNone/>
            </a:pPr>
            <a:r>
              <a:rPr lang="en-US" sz="1050" dirty="0">
                <a:solidFill>
                  <a:srgbClr val="334155"/>
                </a:solidFill>
                <a:latin typeface="Aptos" pitchFamily="34" charset="0"/>
                <a:ea typeface="Aptos" pitchFamily="34" charset="-122"/>
                <a:cs typeface="Aptos" pitchFamily="34" charset="-120"/>
              </a:rPr>
              <a:t>Fast learning, system thinking and practical translation of unfamiliar domain concepts.</a:t>
            </a:r>
            <a:endParaRPr lang="en-US" sz="1050" dirty="0"/>
          </a:p>
        </p:txBody>
      </p:sp>
      <p:sp>
        <p:nvSpPr>
          <p:cNvPr id="11" name="Shape 8"/>
          <p:cNvSpPr/>
          <p:nvPr/>
        </p:nvSpPr>
        <p:spPr>
          <a:xfrm>
            <a:off x="3343544" y="4892040"/>
            <a:ext cx="73152" cy="822960"/>
          </a:xfrm>
          <a:prstGeom prst="rect">
            <a:avLst/>
          </a:prstGeom>
          <a:solidFill>
            <a:srgbClr val="16A34A"/>
          </a:solidFill>
          <a:ln w="12700">
            <a:solidFill>
              <a:srgbClr val="16A34A">
                <a:alpha val="0"/>
              </a:srgbClr>
            </a:solidFill>
            <a:prstDash val="solid"/>
          </a:ln>
        </p:spPr>
        <p:txBody>
          <a:bodyPr/>
          <a:lstStyle/>
          <a:p>
            <a:endParaRPr lang="en-US"/>
          </a:p>
        </p:txBody>
      </p:sp>
      <p:sp>
        <p:nvSpPr>
          <p:cNvPr id="25" name="Slide Number Placeholder 0"/>
          <p:cNvSpPr>
            <a:spLocks noGrp="1"/>
          </p:cNvSpPr>
          <p:nvPr>
            <p:ph type="sldNum" sz="quarter" idx="4294967295"/>
          </p:nvPr>
        </p:nvSpPr>
        <p:spPr>
          <a:xfrm>
            <a:off x="11384280" y="6528816"/>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lang="en-US" b="0"/>
              <a:t>2</a:t>
            </a:fld>
            <a:endParaRPr lang="en-US"/>
          </a:p>
        </p:txBody>
      </p:sp>
      <p:pic>
        <p:nvPicPr>
          <p:cNvPr id="15" name="Image 0" descr="/mnt/data/mineops_assets/haul_truck_pit.jpg">
            <a:extLst>
              <a:ext uri="{FF2B5EF4-FFF2-40B4-BE49-F238E27FC236}">
                <a16:creationId xmlns:a16="http://schemas.microsoft.com/office/drawing/2014/main" id="{164FA63F-0DD9-E34A-377B-7B9549E42139}"/>
              </a:ext>
            </a:extLst>
          </p:cNvPr>
          <p:cNvPicPr>
            <a:picLocks noChangeAspect="1"/>
          </p:cNvPicPr>
          <p:nvPr/>
        </p:nvPicPr>
        <p:blipFill>
          <a:blip r:embed="rId3"/>
          <a:srcRect l="20113" r="20113"/>
          <a:stretch/>
        </p:blipFill>
        <p:spPr>
          <a:xfrm>
            <a:off x="7086685" y="1235270"/>
            <a:ext cx="4529001" cy="505468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274320"/>
            <a:ext cx="4206240" cy="201168"/>
          </a:xfrm>
          <a:prstGeom prst="rect">
            <a:avLst/>
          </a:prstGeom>
          <a:noFill/>
          <a:ln/>
        </p:spPr>
        <p:txBody>
          <a:bodyPr wrap="square" lIns="0" tIns="0" rIns="0" bIns="0" rtlCol="0" anchor="ctr"/>
          <a:lstStyle/>
          <a:p>
            <a:pPr marL="0" indent="0">
              <a:buNone/>
            </a:pPr>
            <a:r>
              <a:rPr lang="en-US" sz="850" b="1" dirty="0">
                <a:solidFill>
                  <a:srgbClr val="2563EB"/>
                </a:solidFill>
                <a:latin typeface="Aptos" pitchFamily="34" charset="0"/>
                <a:ea typeface="Aptos" pitchFamily="34" charset="-122"/>
                <a:cs typeface="Aptos" pitchFamily="34" charset="-120"/>
              </a:rPr>
              <a:t>System boundary</a:t>
            </a:r>
            <a:endParaRPr lang="en-US" sz="850" dirty="0"/>
          </a:p>
        </p:txBody>
      </p:sp>
      <p:sp>
        <p:nvSpPr>
          <p:cNvPr id="3" name="Text 1"/>
          <p:cNvSpPr/>
          <p:nvPr/>
        </p:nvSpPr>
        <p:spPr>
          <a:xfrm>
            <a:off x="566928" y="530352"/>
            <a:ext cx="7680960" cy="475488"/>
          </a:xfrm>
          <a:prstGeom prst="rect">
            <a:avLst/>
          </a:prstGeom>
          <a:noFill/>
          <a:ln/>
        </p:spPr>
        <p:txBody>
          <a:bodyPr wrap="square" lIns="0" tIns="0" rIns="0" bIns="0" rtlCol="0" anchor="ctr"/>
          <a:lstStyle/>
          <a:p>
            <a:pPr marL="0" indent="0">
              <a:buNone/>
            </a:pPr>
            <a:r>
              <a:rPr lang="en-US" sz="2200" b="1" dirty="0">
                <a:solidFill>
                  <a:srgbClr val="0F172A"/>
                </a:solidFill>
                <a:latin typeface="Aptos Display" pitchFamily="34" charset="0"/>
                <a:ea typeface="Aptos Display" pitchFamily="34" charset="-122"/>
                <a:cs typeface="Aptos Display" pitchFamily="34" charset="-120"/>
              </a:rPr>
              <a:t>Where MineOps fits in the mine-planning learning stack</a:t>
            </a:r>
            <a:endParaRPr lang="en-US" sz="2200" dirty="0"/>
          </a:p>
        </p:txBody>
      </p:sp>
      <p:sp>
        <p:nvSpPr>
          <p:cNvPr id="4" name="Shape 2"/>
          <p:cNvSpPr/>
          <p:nvPr/>
        </p:nvSpPr>
        <p:spPr>
          <a:xfrm>
            <a:off x="566928" y="1078992"/>
            <a:ext cx="11064240" cy="0"/>
          </a:xfrm>
          <a:prstGeom prst="line">
            <a:avLst/>
          </a:prstGeom>
          <a:noFill/>
          <a:ln w="12700">
            <a:solidFill>
              <a:srgbClr val="E2E8F0"/>
            </a:solidFill>
            <a:prstDash val="solid"/>
          </a:ln>
        </p:spPr>
        <p:txBody>
          <a:bodyPr/>
          <a:lstStyle/>
          <a:p>
            <a:endParaRPr lang="en-US"/>
          </a:p>
        </p:txBody>
      </p:sp>
      <p:sp>
        <p:nvSpPr>
          <p:cNvPr id="5" name="Text 3"/>
          <p:cNvSpPr/>
          <p:nvPr/>
        </p:nvSpPr>
        <p:spPr>
          <a:xfrm>
            <a:off x="1378013" y="1417320"/>
            <a:ext cx="2423160" cy="749808"/>
          </a:xfrm>
          <a:prstGeom prst="rect">
            <a:avLst/>
          </a:prstGeom>
          <a:solidFill>
            <a:srgbClr val="2563EB"/>
          </a:solidFill>
          <a:ln>
            <a:solidFill>
              <a:srgbClr val="2563EB">
                <a:alpha val="0"/>
              </a:srgbClr>
            </a:solidFill>
          </a:ln>
        </p:spPr>
        <p:txBody>
          <a:bodyPr wrap="square" lIns="762" tIns="762" rIns="762" bIns="762"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MineValue 360</a:t>
            </a:r>
            <a:endParaRPr lang="en-US" sz="1050" dirty="0"/>
          </a:p>
          <a:p>
            <a:pPr marL="0" indent="0" algn="ctr">
              <a:buNone/>
            </a:pPr>
            <a:r>
              <a:rPr lang="en-US" sz="1050" b="1" dirty="0">
                <a:solidFill>
                  <a:srgbClr val="FFFFFF"/>
                </a:solidFill>
                <a:latin typeface="Aptos" pitchFamily="34" charset="0"/>
                <a:ea typeface="Aptos" pitchFamily="34" charset="-122"/>
                <a:cs typeface="Aptos" pitchFamily="34" charset="-120"/>
              </a:rPr>
              <a:t>Block value • schedule • stockpile</a:t>
            </a:r>
            <a:endParaRPr lang="en-US" sz="1050" dirty="0"/>
          </a:p>
        </p:txBody>
      </p:sp>
      <p:sp>
        <p:nvSpPr>
          <p:cNvPr id="6" name="Shape 4"/>
          <p:cNvSpPr/>
          <p:nvPr/>
        </p:nvSpPr>
        <p:spPr>
          <a:xfrm>
            <a:off x="3938333" y="1792224"/>
            <a:ext cx="731520" cy="0"/>
          </a:xfrm>
          <a:prstGeom prst="line">
            <a:avLst/>
          </a:prstGeom>
          <a:noFill/>
          <a:ln w="16510">
            <a:solidFill>
              <a:srgbClr val="64748B"/>
            </a:solidFill>
            <a:prstDash val="solid"/>
            <a:headEnd type="none"/>
            <a:tailEnd type="triangle"/>
          </a:ln>
        </p:spPr>
        <p:txBody>
          <a:bodyPr/>
          <a:lstStyle/>
          <a:p>
            <a:endParaRPr lang="en-US"/>
          </a:p>
        </p:txBody>
      </p:sp>
      <p:sp>
        <p:nvSpPr>
          <p:cNvPr id="7" name="Text 5"/>
          <p:cNvSpPr/>
          <p:nvPr/>
        </p:nvSpPr>
        <p:spPr>
          <a:xfrm>
            <a:off x="4852733" y="1417320"/>
            <a:ext cx="2423160" cy="749808"/>
          </a:xfrm>
          <a:prstGeom prst="rect">
            <a:avLst/>
          </a:prstGeom>
          <a:solidFill>
            <a:srgbClr val="EA580C"/>
          </a:solidFill>
          <a:ln>
            <a:solidFill>
              <a:srgbClr val="EA580C">
                <a:alpha val="0"/>
              </a:srgbClr>
            </a:solidFill>
          </a:ln>
        </p:spPr>
        <p:txBody>
          <a:bodyPr wrap="square" lIns="762" tIns="762" rIns="762" bIns="762"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MineOps 360</a:t>
            </a:r>
            <a:endParaRPr lang="en-US" sz="1050" dirty="0"/>
          </a:p>
          <a:p>
            <a:pPr marL="0" indent="0" algn="ctr">
              <a:buNone/>
            </a:pPr>
            <a:r>
              <a:rPr lang="en-US" sz="1050" b="1" dirty="0">
                <a:solidFill>
                  <a:srgbClr val="FFFFFF"/>
                </a:solidFill>
                <a:latin typeface="Aptos" pitchFamily="34" charset="0"/>
                <a:ea typeface="Aptos" pitchFamily="34" charset="-122"/>
                <a:cs typeface="Aptos" pitchFamily="34" charset="-120"/>
              </a:rPr>
              <a:t>Movement • dispatch • execution</a:t>
            </a:r>
            <a:endParaRPr lang="en-US" sz="1050" dirty="0"/>
          </a:p>
        </p:txBody>
      </p:sp>
      <p:sp>
        <p:nvSpPr>
          <p:cNvPr id="8" name="Shape 6"/>
          <p:cNvSpPr/>
          <p:nvPr/>
        </p:nvSpPr>
        <p:spPr>
          <a:xfrm>
            <a:off x="7413053" y="1792224"/>
            <a:ext cx="731520" cy="0"/>
          </a:xfrm>
          <a:prstGeom prst="line">
            <a:avLst/>
          </a:prstGeom>
          <a:noFill/>
          <a:ln w="16510">
            <a:solidFill>
              <a:srgbClr val="64748B"/>
            </a:solidFill>
            <a:prstDash val="solid"/>
            <a:headEnd type="none"/>
            <a:tailEnd type="triangle"/>
          </a:ln>
        </p:spPr>
        <p:txBody>
          <a:bodyPr/>
          <a:lstStyle/>
          <a:p>
            <a:endParaRPr lang="en-US"/>
          </a:p>
        </p:txBody>
      </p:sp>
      <p:sp>
        <p:nvSpPr>
          <p:cNvPr id="9" name="Text 7"/>
          <p:cNvSpPr/>
          <p:nvPr/>
        </p:nvSpPr>
        <p:spPr>
          <a:xfrm>
            <a:off x="8327453" y="1417320"/>
            <a:ext cx="2423160" cy="749808"/>
          </a:xfrm>
          <a:prstGeom prst="rect">
            <a:avLst/>
          </a:prstGeom>
          <a:solidFill>
            <a:srgbClr val="16A34A"/>
          </a:solidFill>
          <a:ln>
            <a:solidFill>
              <a:srgbClr val="16A34A">
                <a:alpha val="0"/>
              </a:srgbClr>
            </a:solidFill>
          </a:ln>
        </p:spPr>
        <p:txBody>
          <a:bodyPr wrap="square" lIns="762" tIns="762" rIns="762" bIns="762"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BlendFeed 360</a:t>
            </a:r>
            <a:endParaRPr lang="en-US" sz="1050" dirty="0"/>
          </a:p>
          <a:p>
            <a:pPr marL="0" indent="0" algn="ctr">
              <a:buNone/>
            </a:pPr>
            <a:r>
              <a:rPr lang="en-US" sz="1050" b="1" dirty="0">
                <a:solidFill>
                  <a:srgbClr val="FFFFFF"/>
                </a:solidFill>
                <a:latin typeface="Aptos" pitchFamily="34" charset="0"/>
                <a:ea typeface="Aptos" pitchFamily="34" charset="-122"/>
                <a:cs typeface="Aptos" pitchFamily="34" charset="-120"/>
              </a:rPr>
              <a:t>Chemistry recipes • HPAL/RKEF</a:t>
            </a:r>
            <a:endParaRPr lang="en-US" sz="1050" dirty="0"/>
          </a:p>
        </p:txBody>
      </p:sp>
      <p:pic>
        <p:nvPicPr>
          <p:cNvPr id="12" name="Image 0" descr="/mnt/data/rom_crusher_stockpile.jpg"/>
          <p:cNvPicPr>
            <a:picLocks noChangeAspect="1"/>
          </p:cNvPicPr>
          <p:nvPr/>
        </p:nvPicPr>
        <p:blipFill>
          <a:blip r:embed="rId3"/>
          <a:srcRect t="1722" b="1722"/>
          <a:stretch/>
        </p:blipFill>
        <p:spPr>
          <a:xfrm>
            <a:off x="658368" y="2788920"/>
            <a:ext cx="5394960" cy="2926080"/>
          </a:xfrm>
          <a:prstGeom prst="rect">
            <a:avLst/>
          </a:prstGeom>
        </p:spPr>
      </p:pic>
      <p:sp>
        <p:nvSpPr>
          <p:cNvPr id="13" name="Text 10"/>
          <p:cNvSpPr/>
          <p:nvPr/>
        </p:nvSpPr>
        <p:spPr>
          <a:xfrm>
            <a:off x="6446520" y="2816352"/>
            <a:ext cx="2011680" cy="164592"/>
          </a:xfrm>
          <a:prstGeom prst="rect">
            <a:avLst/>
          </a:prstGeom>
          <a:noFill/>
          <a:ln/>
        </p:spPr>
        <p:txBody>
          <a:bodyPr wrap="square" lIns="0" tIns="0" rIns="0" bIns="0" rtlCol="0" anchor="ctr">
            <a:normAutofit/>
          </a:bodyPr>
          <a:lstStyle/>
          <a:p>
            <a:pPr marL="0" indent="0">
              <a:buNone/>
            </a:pPr>
            <a:r>
              <a:rPr lang="en-US" sz="680" b="1" dirty="0">
                <a:solidFill>
                  <a:srgbClr val="EA580C"/>
                </a:solidFill>
                <a:latin typeface="Aptos" pitchFamily="34" charset="0"/>
                <a:ea typeface="Aptos" pitchFamily="34" charset="-122"/>
                <a:cs typeface="Aptos" pitchFamily="34" charset="-120"/>
              </a:rPr>
              <a:t>MINEOPS ROLE</a:t>
            </a:r>
            <a:endParaRPr lang="en-US" sz="680" dirty="0"/>
          </a:p>
        </p:txBody>
      </p:sp>
      <p:sp>
        <p:nvSpPr>
          <p:cNvPr id="14" name="Text 11"/>
          <p:cNvSpPr/>
          <p:nvPr/>
        </p:nvSpPr>
        <p:spPr>
          <a:xfrm>
            <a:off x="6446520" y="3147330"/>
            <a:ext cx="5074920" cy="1965960"/>
          </a:xfrm>
          <a:prstGeom prst="rect">
            <a:avLst/>
          </a:prstGeom>
          <a:noFill/>
          <a:ln/>
        </p:spPr>
        <p:txBody>
          <a:bodyPr wrap="square" lIns="762" tIns="762" rIns="762" bIns="762" rtlCol="0" anchor="ctr">
            <a:normAutofit/>
          </a:bodyPr>
          <a:lstStyle/>
          <a:p>
            <a:r>
              <a:rPr lang="en-US" sz="1200" dirty="0">
                <a:solidFill>
                  <a:srgbClr val="334155"/>
                </a:solidFill>
                <a:latin typeface="Aptos" pitchFamily="34" charset="0"/>
                <a:ea typeface="Aptos" pitchFamily="34" charset="-122"/>
                <a:cs typeface="Aptos" pitchFamily="34" charset="-120"/>
              </a:rPr>
              <a:t>Transforms MineValue’s planned faces, roads, trucks and stockpile flows into executable movement logic.</a:t>
            </a:r>
            <a:endParaRPr lang="en-US" sz="1200" dirty="0"/>
          </a:p>
          <a:p>
            <a:r>
              <a:rPr lang="en-US" sz="1200" dirty="0">
                <a:solidFill>
                  <a:srgbClr val="334155"/>
                </a:solidFill>
                <a:latin typeface="Aptos" pitchFamily="34" charset="0"/>
                <a:ea typeface="Aptos" pitchFamily="34" charset="-122"/>
                <a:cs typeface="Aptos" pitchFamily="34" charset="-120"/>
              </a:rPr>
              <a:t>Simulates shovel loading, truck cycles, destination service time and routing performance.</a:t>
            </a:r>
            <a:endParaRPr lang="en-US" sz="1200" dirty="0"/>
          </a:p>
          <a:p>
            <a:r>
              <a:rPr lang="en-US" sz="1200" dirty="0">
                <a:solidFill>
                  <a:srgbClr val="334155"/>
                </a:solidFill>
                <a:latin typeface="Aptos" pitchFamily="34" charset="0"/>
                <a:ea typeface="Aptos" pitchFamily="34" charset="-122"/>
                <a:cs typeface="Aptos" pitchFamily="34" charset="-120"/>
              </a:rPr>
              <a:t>Shows whether a plan is only theoretically good or operationally executable under stress.</a:t>
            </a:r>
            <a:endParaRPr lang="en-US" sz="1200" dirty="0"/>
          </a:p>
        </p:txBody>
      </p:sp>
      <p:sp>
        <p:nvSpPr>
          <p:cNvPr id="15" name="Text 12"/>
          <p:cNvSpPr/>
          <p:nvPr/>
        </p:nvSpPr>
        <p:spPr>
          <a:xfrm>
            <a:off x="6446520" y="5349240"/>
            <a:ext cx="5074920" cy="640080"/>
          </a:xfrm>
          <a:prstGeom prst="rect">
            <a:avLst/>
          </a:prstGeom>
          <a:solidFill>
            <a:srgbClr val="FFFFFF"/>
          </a:solidFill>
          <a:ln w="13970">
            <a:solidFill>
              <a:srgbClr val="E5E7EB"/>
            </a:solidFill>
          </a:ln>
        </p:spPr>
        <p:txBody>
          <a:bodyPr wrap="square" lIns="91440" tIns="1651" rIns="1651" bIns="1651" rtlCol="0" anchor="ctr">
            <a:normAutofit/>
          </a:bodyPr>
          <a:lstStyle/>
          <a:p>
            <a:r>
              <a:rPr lang="en-US" sz="1050" dirty="0">
                <a:solidFill>
                  <a:srgbClr val="334155"/>
                </a:solidFill>
                <a:latin typeface="Aptos" pitchFamily="34" charset="0"/>
                <a:ea typeface="Aptos" pitchFamily="34" charset="-122"/>
                <a:cs typeface="Aptos" pitchFamily="34" charset="-120"/>
              </a:rPr>
              <a:t>Core question</a:t>
            </a:r>
            <a:endParaRPr lang="en-US" sz="1050" dirty="0"/>
          </a:p>
          <a:p>
            <a:r>
              <a:rPr lang="en-US" sz="1050" dirty="0">
                <a:solidFill>
                  <a:srgbClr val="334155"/>
                </a:solidFill>
                <a:latin typeface="Aptos" pitchFamily="34" charset="0"/>
                <a:ea typeface="Aptos" pitchFamily="34" charset="-122"/>
                <a:cs typeface="Aptos" pitchFamily="34" charset="-120"/>
              </a:rPr>
              <a:t>Can the planned tonnes move through the network, with the available fleet, under imperfect conditions?</a:t>
            </a:r>
            <a:endParaRPr lang="en-US" sz="1050" dirty="0"/>
          </a:p>
        </p:txBody>
      </p:sp>
      <p:sp>
        <p:nvSpPr>
          <p:cNvPr id="16" name="Shape 13"/>
          <p:cNvSpPr/>
          <p:nvPr/>
        </p:nvSpPr>
        <p:spPr>
          <a:xfrm>
            <a:off x="6397314" y="5349240"/>
            <a:ext cx="73152" cy="640080"/>
          </a:xfrm>
          <a:prstGeom prst="rect">
            <a:avLst/>
          </a:prstGeom>
          <a:solidFill>
            <a:srgbClr val="EA580C"/>
          </a:solidFill>
          <a:ln w="12700">
            <a:solidFill>
              <a:srgbClr val="EA580C">
                <a:alpha val="0"/>
              </a:srgbClr>
            </a:solidFill>
            <a:prstDash val="solid"/>
          </a:ln>
        </p:spPr>
        <p:txBody>
          <a:bodyPr/>
          <a:lstStyle/>
          <a:p>
            <a:endParaRPr lang="en-US"/>
          </a:p>
        </p:txBody>
      </p:sp>
      <p:sp>
        <p:nvSpPr>
          <p:cNvPr id="25" name="Slide Number Placeholder 0"/>
          <p:cNvSpPr>
            <a:spLocks noGrp="1"/>
          </p:cNvSpPr>
          <p:nvPr>
            <p:ph type="sldNum" sz="quarter" idx="4294967295"/>
          </p:nvPr>
        </p:nvSpPr>
        <p:spPr>
          <a:xfrm>
            <a:off x="11384280" y="6528816"/>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274320"/>
            <a:ext cx="4206240" cy="201168"/>
          </a:xfrm>
          <a:prstGeom prst="rect">
            <a:avLst/>
          </a:prstGeom>
          <a:noFill/>
          <a:ln/>
        </p:spPr>
        <p:txBody>
          <a:bodyPr wrap="square" lIns="0" tIns="0" rIns="0" bIns="0" rtlCol="0" anchor="ctr"/>
          <a:lstStyle/>
          <a:p>
            <a:pPr marL="0" indent="0">
              <a:buNone/>
            </a:pPr>
            <a:r>
              <a:rPr lang="en-US" sz="850" b="1" dirty="0">
                <a:solidFill>
                  <a:srgbClr val="2563EB"/>
                </a:solidFill>
                <a:latin typeface="Aptos" pitchFamily="34" charset="0"/>
                <a:ea typeface="Aptos" pitchFamily="34" charset="-122"/>
                <a:cs typeface="Aptos" pitchFamily="34" charset="-120"/>
              </a:rPr>
              <a:t>Capabilities</a:t>
            </a:r>
            <a:endParaRPr lang="en-US" sz="850" dirty="0"/>
          </a:p>
        </p:txBody>
      </p:sp>
      <p:sp>
        <p:nvSpPr>
          <p:cNvPr id="3" name="Text 1"/>
          <p:cNvSpPr/>
          <p:nvPr/>
        </p:nvSpPr>
        <p:spPr>
          <a:xfrm>
            <a:off x="566928" y="530352"/>
            <a:ext cx="7680960" cy="475488"/>
          </a:xfrm>
          <a:prstGeom prst="rect">
            <a:avLst/>
          </a:prstGeom>
          <a:noFill/>
          <a:ln/>
        </p:spPr>
        <p:txBody>
          <a:bodyPr wrap="square" lIns="0" tIns="0" rIns="0" bIns="0" rtlCol="0" anchor="ctr"/>
          <a:lstStyle/>
          <a:p>
            <a:pPr marL="0" indent="0">
              <a:buNone/>
            </a:pPr>
            <a:r>
              <a:rPr lang="en-US" sz="2200" b="1" dirty="0">
                <a:solidFill>
                  <a:srgbClr val="0F172A"/>
                </a:solidFill>
                <a:latin typeface="Aptos Display" pitchFamily="34" charset="0"/>
                <a:ea typeface="Aptos Display" pitchFamily="34" charset="-122"/>
                <a:cs typeface="Aptos Display" pitchFamily="34" charset="-120"/>
              </a:rPr>
              <a:t>What MineOps 360 does</a:t>
            </a:r>
            <a:endParaRPr lang="en-US" sz="2200" dirty="0"/>
          </a:p>
        </p:txBody>
      </p:sp>
      <p:sp>
        <p:nvSpPr>
          <p:cNvPr id="4" name="Shape 2"/>
          <p:cNvSpPr/>
          <p:nvPr/>
        </p:nvSpPr>
        <p:spPr>
          <a:xfrm>
            <a:off x="566928" y="1078992"/>
            <a:ext cx="11064240" cy="0"/>
          </a:xfrm>
          <a:prstGeom prst="line">
            <a:avLst/>
          </a:prstGeom>
          <a:noFill/>
          <a:ln w="12700">
            <a:solidFill>
              <a:srgbClr val="E2E8F0"/>
            </a:solidFill>
            <a:prstDash val="solid"/>
          </a:ln>
        </p:spPr>
        <p:txBody>
          <a:bodyPr/>
          <a:lstStyle/>
          <a:p>
            <a:endParaRPr lang="en-US"/>
          </a:p>
        </p:txBody>
      </p:sp>
      <p:sp>
        <p:nvSpPr>
          <p:cNvPr id="5" name="Text 3"/>
          <p:cNvSpPr/>
          <p:nvPr/>
        </p:nvSpPr>
        <p:spPr>
          <a:xfrm>
            <a:off x="640507" y="1417320"/>
            <a:ext cx="2422218" cy="841248"/>
          </a:xfrm>
          <a:prstGeom prst="rect">
            <a:avLst/>
          </a:prstGeom>
          <a:solidFill>
            <a:srgbClr val="FFFFFF"/>
          </a:solidFill>
          <a:ln w="13970">
            <a:solidFill>
              <a:srgbClr val="E5E7EB"/>
            </a:solidFill>
          </a:ln>
        </p:spPr>
        <p:txBody>
          <a:bodyPr wrap="square" lIns="91440" tIns="1651" rIns="1651" bIns="1651" rtlCol="0" anchor="ctr">
            <a:normAutofit/>
          </a:bodyPr>
          <a:lstStyle/>
          <a:p>
            <a:r>
              <a:rPr lang="en-US" sz="1050" b="1" dirty="0">
                <a:solidFill>
                  <a:srgbClr val="334155"/>
                </a:solidFill>
                <a:latin typeface="Aptos" pitchFamily="34" charset="0"/>
                <a:ea typeface="Aptos" pitchFamily="34" charset="-122"/>
                <a:cs typeface="Aptos" pitchFamily="34" charset="-120"/>
              </a:rPr>
              <a:t>1. Import plan authority</a:t>
            </a:r>
            <a:endParaRPr lang="en-US" sz="1050" b="1" dirty="0"/>
          </a:p>
          <a:p>
            <a:r>
              <a:rPr lang="en-US" sz="1050" dirty="0">
                <a:solidFill>
                  <a:srgbClr val="334155"/>
                </a:solidFill>
                <a:latin typeface="Aptos" pitchFamily="34" charset="0"/>
                <a:ea typeface="Aptos" pitchFamily="34" charset="-122"/>
                <a:cs typeface="Aptos" pitchFamily="34" charset="-120"/>
              </a:rPr>
              <a:t>Loads MineValue bridge: faces, roads, trucks, stockpile/reclaim jobs and period plan.</a:t>
            </a:r>
            <a:endParaRPr lang="en-US" sz="1050" dirty="0"/>
          </a:p>
        </p:txBody>
      </p:sp>
      <p:sp>
        <p:nvSpPr>
          <p:cNvPr id="6" name="Shape 4"/>
          <p:cNvSpPr/>
          <p:nvPr/>
        </p:nvSpPr>
        <p:spPr>
          <a:xfrm>
            <a:off x="580685" y="1417320"/>
            <a:ext cx="73152" cy="841248"/>
          </a:xfrm>
          <a:prstGeom prst="rect">
            <a:avLst/>
          </a:prstGeom>
          <a:solidFill>
            <a:srgbClr val="2563EB"/>
          </a:solidFill>
          <a:ln w="12700">
            <a:solidFill>
              <a:srgbClr val="2563EB">
                <a:alpha val="0"/>
              </a:srgbClr>
            </a:solidFill>
            <a:prstDash val="solid"/>
          </a:ln>
        </p:spPr>
        <p:txBody>
          <a:bodyPr/>
          <a:lstStyle/>
          <a:p>
            <a:endParaRPr lang="en-US"/>
          </a:p>
        </p:txBody>
      </p:sp>
      <p:sp>
        <p:nvSpPr>
          <p:cNvPr id="7" name="Text 5"/>
          <p:cNvSpPr/>
          <p:nvPr/>
        </p:nvSpPr>
        <p:spPr>
          <a:xfrm>
            <a:off x="3364478" y="1417320"/>
            <a:ext cx="2611661" cy="841248"/>
          </a:xfrm>
          <a:prstGeom prst="rect">
            <a:avLst/>
          </a:prstGeom>
          <a:solidFill>
            <a:srgbClr val="FFFFFF"/>
          </a:solidFill>
          <a:ln w="13970">
            <a:solidFill>
              <a:srgbClr val="E5E7EB"/>
            </a:solidFill>
          </a:ln>
        </p:spPr>
        <p:txBody>
          <a:bodyPr wrap="square" lIns="91440" tIns="1651" rIns="1651" bIns="1651" rtlCol="0" anchor="ctr">
            <a:normAutofit/>
          </a:bodyPr>
          <a:lstStyle/>
          <a:p>
            <a:r>
              <a:rPr lang="en-US" sz="1050" b="1" dirty="0">
                <a:solidFill>
                  <a:srgbClr val="334155"/>
                </a:solidFill>
                <a:latin typeface="Aptos" pitchFamily="34" charset="0"/>
                <a:ea typeface="Aptos" pitchFamily="34" charset="-122"/>
                <a:cs typeface="Aptos" pitchFamily="34" charset="-120"/>
              </a:rPr>
              <a:t>2. Simulate movement</a:t>
            </a:r>
            <a:endParaRPr lang="en-US" sz="1050" b="1" dirty="0"/>
          </a:p>
          <a:p>
            <a:r>
              <a:rPr lang="en-US" sz="1050" dirty="0">
                <a:solidFill>
                  <a:srgbClr val="334155"/>
                </a:solidFill>
                <a:latin typeface="Aptos" pitchFamily="34" charset="0"/>
                <a:ea typeface="Aptos" pitchFamily="34" charset="-122"/>
                <a:cs typeface="Aptos" pitchFamily="34" charset="-120"/>
              </a:rPr>
              <a:t>Runs truck cycles from parking → face/stockpile → crusher/dump → next dispatch.</a:t>
            </a:r>
            <a:endParaRPr lang="en-US" sz="1050" dirty="0"/>
          </a:p>
        </p:txBody>
      </p:sp>
      <p:sp>
        <p:nvSpPr>
          <p:cNvPr id="8" name="Shape 6"/>
          <p:cNvSpPr/>
          <p:nvPr/>
        </p:nvSpPr>
        <p:spPr>
          <a:xfrm>
            <a:off x="3281584" y="1417320"/>
            <a:ext cx="82893" cy="841248"/>
          </a:xfrm>
          <a:prstGeom prst="rect">
            <a:avLst/>
          </a:prstGeom>
          <a:solidFill>
            <a:srgbClr val="EA580C"/>
          </a:solidFill>
          <a:ln w="12700">
            <a:solidFill>
              <a:srgbClr val="EA580C">
                <a:alpha val="0"/>
              </a:srgbClr>
            </a:solidFill>
            <a:prstDash val="solid"/>
          </a:ln>
        </p:spPr>
        <p:txBody>
          <a:bodyPr/>
          <a:lstStyle/>
          <a:p>
            <a:endParaRPr lang="en-US"/>
          </a:p>
        </p:txBody>
      </p:sp>
      <p:sp>
        <p:nvSpPr>
          <p:cNvPr id="9" name="Text 7"/>
          <p:cNvSpPr/>
          <p:nvPr/>
        </p:nvSpPr>
        <p:spPr>
          <a:xfrm>
            <a:off x="6275684" y="1417320"/>
            <a:ext cx="2611940" cy="841248"/>
          </a:xfrm>
          <a:prstGeom prst="rect">
            <a:avLst/>
          </a:prstGeom>
          <a:solidFill>
            <a:srgbClr val="FFFFFF"/>
          </a:solidFill>
          <a:ln w="13970">
            <a:solidFill>
              <a:srgbClr val="E5E7EB"/>
            </a:solidFill>
          </a:ln>
        </p:spPr>
        <p:txBody>
          <a:bodyPr wrap="square" lIns="91440" tIns="1651" rIns="1651" bIns="1651" rtlCol="0" anchor="ctr">
            <a:normAutofit/>
          </a:bodyPr>
          <a:lstStyle/>
          <a:p>
            <a:r>
              <a:rPr lang="en-US" sz="1050" b="1" dirty="0">
                <a:solidFill>
                  <a:srgbClr val="334155"/>
                </a:solidFill>
                <a:latin typeface="Aptos" pitchFamily="34" charset="0"/>
                <a:ea typeface="Aptos" pitchFamily="34" charset="-122"/>
                <a:cs typeface="Aptos" pitchFamily="34" charset="-120"/>
              </a:rPr>
              <a:t>3. Measure execution</a:t>
            </a:r>
            <a:endParaRPr lang="en-US" sz="1050" b="1" dirty="0"/>
          </a:p>
          <a:p>
            <a:r>
              <a:rPr lang="en-US" sz="1050" dirty="0">
                <a:solidFill>
                  <a:srgbClr val="334155"/>
                </a:solidFill>
                <a:latin typeface="Aptos" pitchFamily="34" charset="0"/>
                <a:ea typeface="Aptos" pitchFamily="34" charset="-122"/>
                <a:cs typeface="Aptos" pitchFamily="34" charset="-120"/>
              </a:rPr>
              <a:t>Tracks attainment, </a:t>
            </a:r>
            <a:r>
              <a:rPr lang="en-US" sz="1050" dirty="0" err="1">
                <a:solidFill>
                  <a:srgbClr val="334155"/>
                </a:solidFill>
                <a:latin typeface="Aptos" pitchFamily="34" charset="0"/>
                <a:ea typeface="Aptos" pitchFamily="34" charset="-122"/>
                <a:cs typeface="Aptos" pitchFamily="34" charset="-120"/>
              </a:rPr>
              <a:t>tonnes</a:t>
            </a:r>
            <a:r>
              <a:rPr lang="en-US" sz="1050" dirty="0">
                <a:solidFill>
                  <a:srgbClr val="334155"/>
                </a:solidFill>
                <a:latin typeface="Aptos" pitchFamily="34" charset="0"/>
                <a:ea typeface="Aptos" pitchFamily="34" charset="-122"/>
                <a:cs typeface="Aptos" pitchFamily="34" charset="-120"/>
              </a:rPr>
              <a:t> moved, bottlenecks, route usage and operational exceptions.</a:t>
            </a:r>
            <a:endParaRPr lang="en-US" sz="1050" dirty="0"/>
          </a:p>
        </p:txBody>
      </p:sp>
      <p:sp>
        <p:nvSpPr>
          <p:cNvPr id="10" name="Shape 8"/>
          <p:cNvSpPr/>
          <p:nvPr/>
        </p:nvSpPr>
        <p:spPr>
          <a:xfrm>
            <a:off x="6198770" y="1417320"/>
            <a:ext cx="73152" cy="841248"/>
          </a:xfrm>
          <a:prstGeom prst="rect">
            <a:avLst/>
          </a:prstGeom>
          <a:solidFill>
            <a:srgbClr val="16A34A"/>
          </a:solidFill>
          <a:ln w="12700">
            <a:solidFill>
              <a:srgbClr val="16A34A">
                <a:alpha val="0"/>
              </a:srgbClr>
            </a:solidFill>
            <a:prstDash val="solid"/>
          </a:ln>
        </p:spPr>
        <p:txBody>
          <a:bodyPr/>
          <a:lstStyle/>
          <a:p>
            <a:endParaRPr lang="en-US"/>
          </a:p>
        </p:txBody>
      </p:sp>
      <p:sp>
        <p:nvSpPr>
          <p:cNvPr id="11" name="Text 9"/>
          <p:cNvSpPr/>
          <p:nvPr/>
        </p:nvSpPr>
        <p:spPr>
          <a:xfrm>
            <a:off x="9169206" y="1417320"/>
            <a:ext cx="2470168" cy="841248"/>
          </a:xfrm>
          <a:prstGeom prst="rect">
            <a:avLst/>
          </a:prstGeom>
          <a:solidFill>
            <a:srgbClr val="FFFFFF"/>
          </a:solidFill>
          <a:ln w="13970">
            <a:solidFill>
              <a:srgbClr val="E5E7EB"/>
            </a:solidFill>
          </a:ln>
        </p:spPr>
        <p:txBody>
          <a:bodyPr wrap="square" lIns="91440" tIns="1651" rIns="1651" bIns="1651" rtlCol="0" anchor="ctr">
            <a:normAutofit/>
          </a:bodyPr>
          <a:lstStyle/>
          <a:p>
            <a:r>
              <a:rPr lang="en-US" sz="1050" b="1" dirty="0">
                <a:solidFill>
                  <a:srgbClr val="334155"/>
                </a:solidFill>
                <a:latin typeface="Aptos" pitchFamily="34" charset="0"/>
                <a:ea typeface="Aptos" pitchFamily="34" charset="-122"/>
                <a:cs typeface="Aptos" pitchFamily="34" charset="-120"/>
              </a:rPr>
              <a:t>4. Stress test decisions</a:t>
            </a:r>
            <a:endParaRPr lang="en-US" sz="1050" b="1" dirty="0"/>
          </a:p>
          <a:p>
            <a:r>
              <a:rPr lang="en-US" sz="1050" dirty="0">
                <a:solidFill>
                  <a:srgbClr val="334155"/>
                </a:solidFill>
                <a:latin typeface="Aptos" pitchFamily="34" charset="0"/>
                <a:ea typeface="Aptos" pitchFamily="34" charset="-122"/>
                <a:cs typeface="Aptos" pitchFamily="34" charset="-120"/>
              </a:rPr>
              <a:t>Tests disruptions, truck breakdowns, road closures and plan recovery actions.</a:t>
            </a:r>
            <a:endParaRPr lang="en-US" sz="1050" dirty="0"/>
          </a:p>
        </p:txBody>
      </p:sp>
      <p:sp>
        <p:nvSpPr>
          <p:cNvPr id="12" name="Shape 10"/>
          <p:cNvSpPr/>
          <p:nvPr/>
        </p:nvSpPr>
        <p:spPr>
          <a:xfrm>
            <a:off x="9100839" y="1417320"/>
            <a:ext cx="73152" cy="841248"/>
          </a:xfrm>
          <a:prstGeom prst="rect">
            <a:avLst/>
          </a:prstGeom>
          <a:solidFill>
            <a:srgbClr val="DC2626"/>
          </a:solidFill>
          <a:ln w="12700">
            <a:solidFill>
              <a:srgbClr val="DC2626">
                <a:alpha val="0"/>
              </a:srgbClr>
            </a:solidFill>
            <a:prstDash val="solid"/>
          </a:ln>
        </p:spPr>
        <p:txBody>
          <a:bodyPr/>
          <a:lstStyle/>
          <a:p>
            <a:endParaRPr lang="en-US"/>
          </a:p>
        </p:txBody>
      </p:sp>
      <p:sp>
        <p:nvSpPr>
          <p:cNvPr id="13" name="Text 11"/>
          <p:cNvSpPr/>
          <p:nvPr/>
        </p:nvSpPr>
        <p:spPr>
          <a:xfrm>
            <a:off x="445935" y="2788920"/>
            <a:ext cx="2103120" cy="164592"/>
          </a:xfrm>
          <a:prstGeom prst="rect">
            <a:avLst/>
          </a:prstGeom>
          <a:noFill/>
          <a:ln/>
        </p:spPr>
        <p:txBody>
          <a:bodyPr wrap="square" lIns="0" tIns="0" rIns="0" bIns="0" rtlCol="0" anchor="ctr">
            <a:normAutofit/>
          </a:bodyPr>
          <a:lstStyle/>
          <a:p>
            <a:pPr marL="0" indent="0">
              <a:buNone/>
            </a:pPr>
            <a:r>
              <a:rPr lang="en-US" sz="680" b="1" dirty="0">
                <a:solidFill>
                  <a:srgbClr val="2563EB"/>
                </a:solidFill>
                <a:latin typeface="Aptos" pitchFamily="34" charset="0"/>
                <a:ea typeface="Aptos" pitchFamily="34" charset="-122"/>
                <a:cs typeface="Aptos" pitchFamily="34" charset="-120"/>
              </a:rPr>
              <a:t>INPUT → LOGIC → OUTPUT</a:t>
            </a:r>
            <a:endParaRPr lang="en-US" sz="680" dirty="0"/>
          </a:p>
        </p:txBody>
      </p:sp>
      <p:sp>
        <p:nvSpPr>
          <p:cNvPr id="14" name="Text 12"/>
          <p:cNvSpPr/>
          <p:nvPr/>
        </p:nvSpPr>
        <p:spPr>
          <a:xfrm>
            <a:off x="349954" y="3218688"/>
            <a:ext cx="1417320" cy="621792"/>
          </a:xfrm>
          <a:prstGeom prst="rect">
            <a:avLst/>
          </a:prstGeom>
          <a:solidFill>
            <a:srgbClr val="2563EB"/>
          </a:solidFill>
          <a:ln>
            <a:solidFill>
              <a:srgbClr val="2563EB">
                <a:alpha val="0"/>
              </a:srgbClr>
            </a:solidFill>
          </a:ln>
        </p:spPr>
        <p:txBody>
          <a:bodyPr wrap="square" lIns="762" tIns="762" rIns="762" bIns="762"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Plan</a:t>
            </a:r>
            <a:endParaRPr lang="en-US" sz="1050" dirty="0"/>
          </a:p>
          <a:p>
            <a:pPr marL="0" indent="0" algn="ctr">
              <a:buNone/>
            </a:pPr>
            <a:r>
              <a:rPr lang="en-US" sz="1050" b="1" dirty="0">
                <a:solidFill>
                  <a:srgbClr val="FFFFFF"/>
                </a:solidFill>
                <a:latin typeface="Aptos" pitchFamily="34" charset="0"/>
                <a:ea typeface="Aptos" pitchFamily="34" charset="-122"/>
                <a:cs typeface="Aptos" pitchFamily="34" charset="-120"/>
              </a:rPr>
              <a:t>faces • tonnes • value</a:t>
            </a:r>
            <a:endParaRPr lang="en-US" sz="1050" dirty="0"/>
          </a:p>
        </p:txBody>
      </p:sp>
      <p:sp>
        <p:nvSpPr>
          <p:cNvPr id="15" name="Shape 13"/>
          <p:cNvSpPr/>
          <p:nvPr/>
        </p:nvSpPr>
        <p:spPr>
          <a:xfrm>
            <a:off x="1904434" y="3529584"/>
            <a:ext cx="640080" cy="0"/>
          </a:xfrm>
          <a:prstGeom prst="line">
            <a:avLst/>
          </a:prstGeom>
          <a:noFill/>
          <a:ln w="16510">
            <a:solidFill>
              <a:srgbClr val="64748B"/>
            </a:solidFill>
            <a:prstDash val="solid"/>
            <a:headEnd type="none"/>
            <a:tailEnd type="triangle"/>
          </a:ln>
        </p:spPr>
        <p:txBody>
          <a:bodyPr/>
          <a:lstStyle/>
          <a:p>
            <a:endParaRPr lang="en-US"/>
          </a:p>
        </p:txBody>
      </p:sp>
      <p:sp>
        <p:nvSpPr>
          <p:cNvPr id="16" name="Text 14"/>
          <p:cNvSpPr/>
          <p:nvPr/>
        </p:nvSpPr>
        <p:spPr>
          <a:xfrm>
            <a:off x="2681674" y="3218688"/>
            <a:ext cx="1664208" cy="621792"/>
          </a:xfrm>
          <a:prstGeom prst="rect">
            <a:avLst/>
          </a:prstGeom>
          <a:solidFill>
            <a:srgbClr val="EA580C"/>
          </a:solidFill>
          <a:ln>
            <a:solidFill>
              <a:srgbClr val="EA580C">
                <a:alpha val="0"/>
              </a:srgbClr>
            </a:solidFill>
          </a:ln>
        </p:spPr>
        <p:txBody>
          <a:bodyPr wrap="square" lIns="762" tIns="762" rIns="762" bIns="762"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Fleet</a:t>
            </a:r>
            <a:endParaRPr lang="en-US" sz="1050" dirty="0"/>
          </a:p>
          <a:p>
            <a:pPr marL="0" indent="0" algn="ctr">
              <a:buNone/>
            </a:pPr>
            <a:r>
              <a:rPr lang="en-US" sz="1050" b="1" dirty="0">
                <a:solidFill>
                  <a:srgbClr val="FFFFFF"/>
                </a:solidFill>
                <a:latin typeface="Aptos" pitchFamily="34" charset="0"/>
                <a:ea typeface="Aptos" pitchFamily="34" charset="-122"/>
                <a:cs typeface="Aptos" pitchFamily="34" charset="-120"/>
              </a:rPr>
              <a:t>trucks • payload • availability</a:t>
            </a:r>
            <a:endParaRPr lang="en-US" sz="1050" dirty="0"/>
          </a:p>
        </p:txBody>
      </p:sp>
      <p:sp>
        <p:nvSpPr>
          <p:cNvPr id="17" name="Shape 15"/>
          <p:cNvSpPr/>
          <p:nvPr/>
        </p:nvSpPr>
        <p:spPr>
          <a:xfrm>
            <a:off x="4483042" y="3529584"/>
            <a:ext cx="640080" cy="0"/>
          </a:xfrm>
          <a:prstGeom prst="line">
            <a:avLst/>
          </a:prstGeom>
          <a:noFill/>
          <a:ln w="16510">
            <a:solidFill>
              <a:srgbClr val="64748B"/>
            </a:solidFill>
            <a:prstDash val="solid"/>
            <a:headEnd type="none"/>
            <a:tailEnd type="triangle"/>
          </a:ln>
        </p:spPr>
        <p:txBody>
          <a:bodyPr/>
          <a:lstStyle/>
          <a:p>
            <a:endParaRPr lang="en-US"/>
          </a:p>
        </p:txBody>
      </p:sp>
      <p:sp>
        <p:nvSpPr>
          <p:cNvPr id="18" name="Text 16"/>
          <p:cNvSpPr/>
          <p:nvPr/>
        </p:nvSpPr>
        <p:spPr>
          <a:xfrm>
            <a:off x="5260282" y="3218688"/>
            <a:ext cx="1554480" cy="621792"/>
          </a:xfrm>
          <a:prstGeom prst="rect">
            <a:avLst/>
          </a:prstGeom>
          <a:solidFill>
            <a:srgbClr val="0891B2"/>
          </a:solidFill>
          <a:ln>
            <a:solidFill>
              <a:srgbClr val="0891B2">
                <a:alpha val="0"/>
              </a:srgbClr>
            </a:solidFill>
          </a:ln>
        </p:spPr>
        <p:txBody>
          <a:bodyPr wrap="square" lIns="762" tIns="762" rIns="762" bIns="762"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Network</a:t>
            </a:r>
            <a:endParaRPr lang="en-US" sz="1050" dirty="0"/>
          </a:p>
          <a:p>
            <a:pPr marL="0" indent="0" algn="ctr">
              <a:buNone/>
            </a:pPr>
            <a:r>
              <a:rPr lang="en-US" sz="1050" b="1" dirty="0">
                <a:solidFill>
                  <a:srgbClr val="FFFFFF"/>
                </a:solidFill>
                <a:latin typeface="Aptos" pitchFamily="34" charset="0"/>
                <a:ea typeface="Aptos" pitchFamily="34" charset="-122"/>
                <a:cs typeface="Aptos" pitchFamily="34" charset="-120"/>
              </a:rPr>
              <a:t>roads • grade • speed</a:t>
            </a:r>
            <a:endParaRPr lang="en-US" sz="1050" dirty="0"/>
          </a:p>
        </p:txBody>
      </p:sp>
      <p:sp>
        <p:nvSpPr>
          <p:cNvPr id="19" name="Shape 17"/>
          <p:cNvSpPr/>
          <p:nvPr/>
        </p:nvSpPr>
        <p:spPr>
          <a:xfrm>
            <a:off x="6933634" y="3529584"/>
            <a:ext cx="640080" cy="0"/>
          </a:xfrm>
          <a:prstGeom prst="line">
            <a:avLst/>
          </a:prstGeom>
          <a:noFill/>
          <a:ln w="16510">
            <a:solidFill>
              <a:srgbClr val="64748B"/>
            </a:solidFill>
            <a:prstDash val="solid"/>
            <a:headEnd type="none"/>
            <a:tailEnd type="triangle"/>
          </a:ln>
        </p:spPr>
        <p:txBody>
          <a:bodyPr/>
          <a:lstStyle/>
          <a:p>
            <a:endParaRPr lang="en-US"/>
          </a:p>
        </p:txBody>
      </p:sp>
      <p:sp>
        <p:nvSpPr>
          <p:cNvPr id="20" name="Text 18"/>
          <p:cNvSpPr/>
          <p:nvPr/>
        </p:nvSpPr>
        <p:spPr>
          <a:xfrm>
            <a:off x="7710874" y="3218688"/>
            <a:ext cx="1645920" cy="621792"/>
          </a:xfrm>
          <a:prstGeom prst="rect">
            <a:avLst/>
          </a:prstGeom>
          <a:solidFill>
            <a:srgbClr val="16A34A"/>
          </a:solidFill>
          <a:ln>
            <a:solidFill>
              <a:srgbClr val="16A34A">
                <a:alpha val="0"/>
              </a:srgbClr>
            </a:solidFill>
          </a:ln>
        </p:spPr>
        <p:txBody>
          <a:bodyPr wrap="square" lIns="762" tIns="762" rIns="762" bIns="762"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Simulation</a:t>
            </a:r>
            <a:endParaRPr lang="en-US" sz="1050" dirty="0"/>
          </a:p>
          <a:p>
            <a:pPr marL="0" indent="0" algn="ctr">
              <a:buNone/>
            </a:pPr>
            <a:r>
              <a:rPr lang="en-US" sz="1050" b="1" dirty="0">
                <a:solidFill>
                  <a:srgbClr val="FFFFFF"/>
                </a:solidFill>
                <a:latin typeface="Aptos" pitchFamily="34" charset="0"/>
                <a:ea typeface="Aptos" pitchFamily="34" charset="-122"/>
                <a:cs typeface="Aptos" pitchFamily="34" charset="-120"/>
              </a:rPr>
              <a:t>cycles • queues • routes</a:t>
            </a:r>
            <a:endParaRPr lang="en-US" sz="1050" dirty="0"/>
          </a:p>
        </p:txBody>
      </p:sp>
      <p:sp>
        <p:nvSpPr>
          <p:cNvPr id="21" name="Shape 19"/>
          <p:cNvSpPr/>
          <p:nvPr/>
        </p:nvSpPr>
        <p:spPr>
          <a:xfrm>
            <a:off x="9493954" y="3529584"/>
            <a:ext cx="640080" cy="0"/>
          </a:xfrm>
          <a:prstGeom prst="line">
            <a:avLst/>
          </a:prstGeom>
          <a:noFill/>
          <a:ln w="16510">
            <a:solidFill>
              <a:srgbClr val="64748B"/>
            </a:solidFill>
            <a:prstDash val="solid"/>
            <a:headEnd type="none"/>
            <a:tailEnd type="triangle"/>
          </a:ln>
        </p:spPr>
        <p:txBody>
          <a:bodyPr/>
          <a:lstStyle/>
          <a:p>
            <a:endParaRPr lang="en-US"/>
          </a:p>
        </p:txBody>
      </p:sp>
      <p:sp>
        <p:nvSpPr>
          <p:cNvPr id="22" name="Text 20"/>
          <p:cNvSpPr/>
          <p:nvPr/>
        </p:nvSpPr>
        <p:spPr>
          <a:xfrm>
            <a:off x="10271194" y="3218688"/>
            <a:ext cx="1570852" cy="621792"/>
          </a:xfrm>
          <a:prstGeom prst="rect">
            <a:avLst/>
          </a:prstGeom>
          <a:solidFill>
            <a:srgbClr val="7C3AED"/>
          </a:solidFill>
          <a:ln>
            <a:solidFill>
              <a:srgbClr val="7C3AED">
                <a:alpha val="0"/>
              </a:srgbClr>
            </a:solidFill>
          </a:ln>
        </p:spPr>
        <p:txBody>
          <a:bodyPr wrap="square" lIns="762" tIns="762" rIns="762" bIns="762"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KPI</a:t>
            </a:r>
            <a:endParaRPr lang="en-US" sz="1050" dirty="0"/>
          </a:p>
          <a:p>
            <a:pPr marL="0" indent="0" algn="ctr">
              <a:buNone/>
            </a:pPr>
            <a:r>
              <a:rPr lang="en-US" sz="1050" b="1" dirty="0">
                <a:solidFill>
                  <a:srgbClr val="FFFFFF"/>
                </a:solidFill>
                <a:latin typeface="Aptos" pitchFamily="34" charset="0"/>
                <a:ea typeface="Aptos" pitchFamily="34" charset="-122"/>
                <a:cs typeface="Aptos" pitchFamily="34" charset="-120"/>
              </a:rPr>
              <a:t>attainment • value • risk</a:t>
            </a:r>
            <a:endParaRPr lang="en-US" sz="1050" dirty="0"/>
          </a:p>
        </p:txBody>
      </p:sp>
      <p:sp>
        <p:nvSpPr>
          <p:cNvPr id="23" name="Text 21"/>
          <p:cNvSpPr/>
          <p:nvPr/>
        </p:nvSpPr>
        <p:spPr>
          <a:xfrm>
            <a:off x="684874" y="4663440"/>
            <a:ext cx="2377440" cy="731520"/>
          </a:xfrm>
          <a:prstGeom prst="rect">
            <a:avLst/>
          </a:prstGeom>
          <a:solidFill>
            <a:srgbClr val="F8FAFC"/>
          </a:solidFill>
          <a:ln w="10160">
            <a:solidFill>
              <a:srgbClr val="E2E8F0"/>
            </a:solidFill>
          </a:ln>
        </p:spPr>
        <p:txBody>
          <a:bodyPr wrap="square" lIns="91440" tIns="1016" rIns="1016" bIns="1016" rtlCol="0" anchor="ctr">
            <a:normAutofit/>
          </a:bodyPr>
          <a:lstStyle/>
          <a:p>
            <a:pPr marL="0" indent="0">
              <a:buNone/>
            </a:pPr>
            <a:r>
              <a:rPr lang="en-US" sz="1400" b="1" dirty="0">
                <a:solidFill>
                  <a:srgbClr val="2563EB"/>
                </a:solidFill>
                <a:latin typeface="Aptos Display" pitchFamily="34" charset="0"/>
                <a:ea typeface="Aptos Display" pitchFamily="34" charset="-122"/>
                <a:cs typeface="Aptos Display" pitchFamily="34" charset="-120"/>
              </a:rPr>
              <a:t>Attainment</a:t>
            </a:r>
            <a:r>
              <a:rPr lang="en-US" sz="1400" dirty="0"/>
              <a:t> </a:t>
            </a:r>
            <a:r>
              <a:rPr lang="en-US" sz="1400" b="1" dirty="0">
                <a:solidFill>
                  <a:srgbClr val="2563EB"/>
                </a:solidFill>
                <a:latin typeface="Aptos Display" pitchFamily="34" charset="0"/>
                <a:ea typeface="Aptos Display" pitchFamily="34" charset="-122"/>
                <a:cs typeface="Aptos Display" pitchFamily="34" charset="-120"/>
              </a:rPr>
              <a:t>planned vs moved tonnes</a:t>
            </a:r>
            <a:endParaRPr lang="en-US" sz="1400" dirty="0"/>
          </a:p>
        </p:txBody>
      </p:sp>
      <p:sp>
        <p:nvSpPr>
          <p:cNvPr id="24" name="Text 22"/>
          <p:cNvSpPr/>
          <p:nvPr/>
        </p:nvSpPr>
        <p:spPr>
          <a:xfrm>
            <a:off x="3546762" y="4663440"/>
            <a:ext cx="2377440" cy="731520"/>
          </a:xfrm>
          <a:prstGeom prst="rect">
            <a:avLst/>
          </a:prstGeom>
          <a:solidFill>
            <a:srgbClr val="F8FAFC"/>
          </a:solidFill>
          <a:ln w="10160">
            <a:solidFill>
              <a:srgbClr val="E2E8F0"/>
            </a:solidFill>
          </a:ln>
        </p:spPr>
        <p:txBody>
          <a:bodyPr wrap="square" lIns="91440" tIns="1016" rIns="1016" bIns="1016" rtlCol="0" anchor="ctr">
            <a:noAutofit/>
          </a:bodyPr>
          <a:lstStyle/>
          <a:p>
            <a:pPr marL="0" indent="0">
              <a:buNone/>
            </a:pPr>
            <a:r>
              <a:rPr lang="en-US" sz="1400" b="1" dirty="0">
                <a:solidFill>
                  <a:srgbClr val="16A34A"/>
                </a:solidFill>
                <a:latin typeface="Aptos Display" pitchFamily="34" charset="0"/>
                <a:ea typeface="Aptos Display" pitchFamily="34" charset="-122"/>
                <a:cs typeface="Aptos Display" pitchFamily="34" charset="-120"/>
              </a:rPr>
              <a:t>Value movement</a:t>
            </a:r>
            <a:r>
              <a:rPr lang="en-US" sz="1400" dirty="0"/>
              <a:t> </a:t>
            </a:r>
            <a:r>
              <a:rPr lang="en-US" sz="1400" b="1" dirty="0">
                <a:solidFill>
                  <a:srgbClr val="16A34A"/>
                </a:solidFill>
                <a:latin typeface="Aptos Display" pitchFamily="34" charset="0"/>
                <a:ea typeface="Aptos Display" pitchFamily="34" charset="-122"/>
                <a:cs typeface="Aptos Display" pitchFamily="34" charset="-120"/>
              </a:rPr>
              <a:t>ore</a:t>
            </a:r>
            <a:endParaRPr lang="en-US" sz="1400" dirty="0"/>
          </a:p>
        </p:txBody>
      </p:sp>
      <p:sp>
        <p:nvSpPr>
          <p:cNvPr id="25" name="Text 23"/>
          <p:cNvSpPr/>
          <p:nvPr/>
        </p:nvSpPr>
        <p:spPr>
          <a:xfrm>
            <a:off x="6321590" y="4663440"/>
            <a:ext cx="2377440" cy="731520"/>
          </a:xfrm>
          <a:prstGeom prst="rect">
            <a:avLst/>
          </a:prstGeom>
          <a:solidFill>
            <a:srgbClr val="F8FAFC"/>
          </a:solidFill>
          <a:ln w="10160">
            <a:solidFill>
              <a:srgbClr val="E2E8F0"/>
            </a:solidFill>
          </a:ln>
        </p:spPr>
        <p:txBody>
          <a:bodyPr wrap="square" lIns="91440" tIns="1016" rIns="1016" bIns="1016" rtlCol="0" anchor="ctr">
            <a:noAutofit/>
          </a:bodyPr>
          <a:lstStyle/>
          <a:p>
            <a:pPr marL="0" indent="0">
              <a:buNone/>
            </a:pPr>
            <a:r>
              <a:rPr lang="en-US" sz="1400" b="1" dirty="0">
                <a:solidFill>
                  <a:srgbClr val="EA580C"/>
                </a:solidFill>
                <a:latin typeface="Aptos Display" pitchFamily="34" charset="0"/>
                <a:ea typeface="Aptos Display" pitchFamily="34" charset="-122"/>
                <a:cs typeface="Aptos Display" pitchFamily="34" charset="-120"/>
              </a:rPr>
              <a:t>Bottlenecks:</a:t>
            </a:r>
            <a:endParaRPr lang="en-US" sz="1400" dirty="0"/>
          </a:p>
          <a:p>
            <a:pPr marL="0" indent="0">
              <a:buNone/>
            </a:pPr>
            <a:r>
              <a:rPr lang="en-US" sz="1400" b="1" dirty="0">
                <a:solidFill>
                  <a:srgbClr val="EA580C"/>
                </a:solidFill>
                <a:latin typeface="Aptos Display" pitchFamily="34" charset="0"/>
                <a:ea typeface="Aptos Display" pitchFamily="34" charset="-122"/>
                <a:cs typeface="Aptos Display" pitchFamily="34" charset="-120"/>
              </a:rPr>
              <a:t>truck/shovel/road/destination </a:t>
            </a:r>
            <a:endParaRPr lang="en-US" sz="1400" dirty="0"/>
          </a:p>
        </p:txBody>
      </p:sp>
      <p:sp>
        <p:nvSpPr>
          <p:cNvPr id="26" name="Text 24"/>
          <p:cNvSpPr/>
          <p:nvPr/>
        </p:nvSpPr>
        <p:spPr>
          <a:xfrm>
            <a:off x="9060406" y="4663440"/>
            <a:ext cx="2377440" cy="731520"/>
          </a:xfrm>
          <a:prstGeom prst="rect">
            <a:avLst/>
          </a:prstGeom>
          <a:solidFill>
            <a:srgbClr val="F8FAFC"/>
          </a:solidFill>
          <a:ln w="10160">
            <a:solidFill>
              <a:srgbClr val="E2E8F0"/>
            </a:solidFill>
          </a:ln>
        </p:spPr>
        <p:txBody>
          <a:bodyPr wrap="square" lIns="91440" tIns="1016" rIns="1016" bIns="1016" rtlCol="0" anchor="ctr">
            <a:noAutofit/>
          </a:bodyPr>
          <a:lstStyle/>
          <a:p>
            <a:pPr marL="0" indent="0">
              <a:buNone/>
            </a:pPr>
            <a:r>
              <a:rPr lang="en-US" sz="1400" b="1" dirty="0">
                <a:solidFill>
                  <a:srgbClr val="DC2626"/>
                </a:solidFill>
                <a:latin typeface="Aptos Display" pitchFamily="34" charset="0"/>
                <a:ea typeface="Aptos Display" pitchFamily="34" charset="-122"/>
                <a:cs typeface="Aptos Display" pitchFamily="34" charset="-120"/>
              </a:rPr>
              <a:t>Recovery</a:t>
            </a:r>
            <a:r>
              <a:rPr lang="en-US" sz="1400" dirty="0"/>
              <a:t> </a:t>
            </a:r>
            <a:r>
              <a:rPr lang="en-US" sz="1400" b="1" dirty="0">
                <a:solidFill>
                  <a:srgbClr val="DC2626"/>
                </a:solidFill>
                <a:latin typeface="Aptos Display" pitchFamily="34" charset="0"/>
                <a:ea typeface="Aptos Display" pitchFamily="34" charset="-122"/>
                <a:cs typeface="Aptos Display" pitchFamily="34" charset="-120"/>
              </a:rPr>
              <a:t>response to disruptions</a:t>
            </a:r>
            <a:endParaRPr lang="en-US" sz="1400" dirty="0"/>
          </a:p>
        </p:txBody>
      </p:sp>
      <p:sp>
        <p:nvSpPr>
          <p:cNvPr id="28" name="Slide Number Placeholder 0"/>
          <p:cNvSpPr>
            <a:spLocks noGrp="1"/>
          </p:cNvSpPr>
          <p:nvPr>
            <p:ph type="sldNum" sz="quarter" idx="4294967295"/>
          </p:nvPr>
        </p:nvSpPr>
        <p:spPr>
          <a:xfrm>
            <a:off x="11384280" y="6528816"/>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274320"/>
            <a:ext cx="4206240" cy="201168"/>
          </a:xfrm>
          <a:prstGeom prst="rect">
            <a:avLst/>
          </a:prstGeom>
          <a:noFill/>
          <a:ln/>
        </p:spPr>
        <p:txBody>
          <a:bodyPr wrap="square" lIns="0" tIns="0" rIns="0" bIns="0" rtlCol="0" anchor="ctr"/>
          <a:lstStyle/>
          <a:p>
            <a:pPr marL="0" indent="0">
              <a:buNone/>
            </a:pPr>
            <a:r>
              <a:rPr lang="en-US" sz="850" b="1" dirty="0">
                <a:solidFill>
                  <a:srgbClr val="2563EB"/>
                </a:solidFill>
                <a:latin typeface="Aptos" pitchFamily="34" charset="0"/>
                <a:ea typeface="Aptos" pitchFamily="34" charset="-122"/>
                <a:cs typeface="Aptos" pitchFamily="34" charset="-120"/>
              </a:rPr>
              <a:t>Operational thinking</a:t>
            </a:r>
            <a:endParaRPr lang="en-US" sz="850" dirty="0"/>
          </a:p>
        </p:txBody>
      </p:sp>
      <p:sp>
        <p:nvSpPr>
          <p:cNvPr id="3" name="Text 1"/>
          <p:cNvSpPr/>
          <p:nvPr/>
        </p:nvSpPr>
        <p:spPr>
          <a:xfrm>
            <a:off x="566928" y="530352"/>
            <a:ext cx="7680960" cy="475488"/>
          </a:xfrm>
          <a:prstGeom prst="rect">
            <a:avLst/>
          </a:prstGeom>
          <a:noFill/>
          <a:ln/>
        </p:spPr>
        <p:txBody>
          <a:bodyPr wrap="square" lIns="0" tIns="0" rIns="0" bIns="0" rtlCol="0" anchor="ctr"/>
          <a:lstStyle/>
          <a:p>
            <a:pPr marL="0" indent="0">
              <a:buNone/>
            </a:pPr>
            <a:r>
              <a:rPr lang="en-US" sz="2200" b="1" dirty="0">
                <a:solidFill>
                  <a:srgbClr val="0F172A"/>
                </a:solidFill>
                <a:latin typeface="Aptos Display" pitchFamily="34" charset="0"/>
                <a:ea typeface="Aptos Display" pitchFamily="34" charset="-122"/>
                <a:cs typeface="Aptos Display" pitchFamily="34" charset="-120"/>
              </a:rPr>
              <a:t>Learning mine movement as a physical system</a:t>
            </a:r>
            <a:endParaRPr lang="en-US" sz="2200" dirty="0"/>
          </a:p>
        </p:txBody>
      </p:sp>
      <p:sp>
        <p:nvSpPr>
          <p:cNvPr id="4" name="Shape 2"/>
          <p:cNvSpPr/>
          <p:nvPr/>
        </p:nvSpPr>
        <p:spPr>
          <a:xfrm>
            <a:off x="566928" y="1078992"/>
            <a:ext cx="11064240" cy="0"/>
          </a:xfrm>
          <a:prstGeom prst="line">
            <a:avLst/>
          </a:prstGeom>
          <a:noFill/>
          <a:ln w="12700">
            <a:solidFill>
              <a:srgbClr val="E2E8F0"/>
            </a:solidFill>
            <a:prstDash val="solid"/>
          </a:ln>
        </p:spPr>
        <p:txBody>
          <a:bodyPr/>
          <a:lstStyle/>
          <a:p>
            <a:endParaRPr lang="en-US"/>
          </a:p>
        </p:txBody>
      </p:sp>
      <p:sp>
        <p:nvSpPr>
          <p:cNvPr id="5" name="Text 3"/>
          <p:cNvSpPr/>
          <p:nvPr/>
        </p:nvSpPr>
        <p:spPr>
          <a:xfrm>
            <a:off x="380085" y="1600200"/>
            <a:ext cx="1325880" cy="594360"/>
          </a:xfrm>
          <a:prstGeom prst="rect">
            <a:avLst/>
          </a:prstGeom>
          <a:solidFill>
            <a:srgbClr val="334155"/>
          </a:solidFill>
          <a:ln>
            <a:solidFill>
              <a:srgbClr val="334155">
                <a:alpha val="0"/>
              </a:srgbClr>
            </a:solidFill>
          </a:ln>
        </p:spPr>
        <p:txBody>
          <a:bodyPr wrap="square" lIns="762" tIns="762" rIns="762" bIns="762"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PARKING</a:t>
            </a:r>
            <a:endParaRPr lang="en-US" sz="1050" dirty="0"/>
          </a:p>
          <a:p>
            <a:pPr marL="0" indent="0" algn="ctr">
              <a:buNone/>
            </a:pPr>
            <a:r>
              <a:rPr lang="en-US" sz="1050" b="1" dirty="0">
                <a:solidFill>
                  <a:srgbClr val="FFFFFF"/>
                </a:solidFill>
                <a:latin typeface="Aptos" pitchFamily="34" charset="0"/>
                <a:ea typeface="Aptos" pitchFamily="34" charset="-122"/>
                <a:cs typeface="Aptos" pitchFamily="34" charset="-120"/>
              </a:rPr>
              <a:t>truck dispatch</a:t>
            </a:r>
            <a:endParaRPr lang="en-US" sz="1050" dirty="0"/>
          </a:p>
        </p:txBody>
      </p:sp>
      <p:sp>
        <p:nvSpPr>
          <p:cNvPr id="6" name="Shape 4"/>
          <p:cNvSpPr/>
          <p:nvPr/>
        </p:nvSpPr>
        <p:spPr>
          <a:xfrm>
            <a:off x="1815693" y="1901952"/>
            <a:ext cx="667512" cy="0"/>
          </a:xfrm>
          <a:prstGeom prst="line">
            <a:avLst/>
          </a:prstGeom>
          <a:noFill/>
          <a:ln w="16510">
            <a:solidFill>
              <a:srgbClr val="64748B"/>
            </a:solidFill>
            <a:prstDash val="solid"/>
            <a:headEnd type="none"/>
            <a:tailEnd type="triangle"/>
          </a:ln>
        </p:spPr>
        <p:txBody>
          <a:bodyPr/>
          <a:lstStyle/>
          <a:p>
            <a:endParaRPr lang="en-US"/>
          </a:p>
        </p:txBody>
      </p:sp>
      <p:sp>
        <p:nvSpPr>
          <p:cNvPr id="7" name="Text 5"/>
          <p:cNvSpPr/>
          <p:nvPr/>
        </p:nvSpPr>
        <p:spPr>
          <a:xfrm>
            <a:off x="2620365" y="1600200"/>
            <a:ext cx="1737360" cy="594360"/>
          </a:xfrm>
          <a:prstGeom prst="rect">
            <a:avLst/>
          </a:prstGeom>
          <a:solidFill>
            <a:srgbClr val="EA580C"/>
          </a:solidFill>
          <a:ln>
            <a:solidFill>
              <a:srgbClr val="EA580C">
                <a:alpha val="0"/>
              </a:srgbClr>
            </a:solidFill>
          </a:ln>
        </p:spPr>
        <p:txBody>
          <a:bodyPr wrap="square" lIns="762" tIns="762" rIns="762" bIns="762"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FACE / STOCKPILE</a:t>
            </a:r>
            <a:endParaRPr lang="en-US" sz="1050" dirty="0"/>
          </a:p>
          <a:p>
            <a:pPr marL="0" indent="0" algn="ctr">
              <a:buNone/>
            </a:pPr>
            <a:r>
              <a:rPr lang="en-US" sz="1050" b="1" dirty="0">
                <a:solidFill>
                  <a:srgbClr val="FFFFFF"/>
                </a:solidFill>
                <a:latin typeface="Aptos" pitchFamily="34" charset="0"/>
                <a:ea typeface="Aptos" pitchFamily="34" charset="-122"/>
                <a:cs typeface="Aptos" pitchFamily="34" charset="-120"/>
              </a:rPr>
              <a:t>load material</a:t>
            </a:r>
            <a:endParaRPr lang="en-US" sz="1050" dirty="0"/>
          </a:p>
        </p:txBody>
      </p:sp>
      <p:sp>
        <p:nvSpPr>
          <p:cNvPr id="8" name="Shape 6"/>
          <p:cNvSpPr/>
          <p:nvPr/>
        </p:nvSpPr>
        <p:spPr>
          <a:xfrm>
            <a:off x="4494885" y="1901952"/>
            <a:ext cx="667512" cy="0"/>
          </a:xfrm>
          <a:prstGeom prst="line">
            <a:avLst/>
          </a:prstGeom>
          <a:noFill/>
          <a:ln w="16510">
            <a:solidFill>
              <a:srgbClr val="64748B"/>
            </a:solidFill>
            <a:prstDash val="solid"/>
            <a:headEnd type="none"/>
            <a:tailEnd type="triangle"/>
          </a:ln>
        </p:spPr>
        <p:txBody>
          <a:bodyPr/>
          <a:lstStyle/>
          <a:p>
            <a:endParaRPr lang="en-US"/>
          </a:p>
        </p:txBody>
      </p:sp>
      <p:sp>
        <p:nvSpPr>
          <p:cNvPr id="9" name="Text 7"/>
          <p:cNvSpPr/>
          <p:nvPr/>
        </p:nvSpPr>
        <p:spPr>
          <a:xfrm>
            <a:off x="5317845" y="1600200"/>
            <a:ext cx="1828800" cy="594360"/>
          </a:xfrm>
          <a:prstGeom prst="rect">
            <a:avLst/>
          </a:prstGeom>
          <a:solidFill>
            <a:srgbClr val="0891B2"/>
          </a:solidFill>
          <a:ln>
            <a:solidFill>
              <a:srgbClr val="0891B2">
                <a:alpha val="0"/>
              </a:srgbClr>
            </a:solidFill>
          </a:ln>
        </p:spPr>
        <p:txBody>
          <a:bodyPr wrap="square" lIns="762" tIns="762" rIns="762" bIns="762"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HAUL ROAD</a:t>
            </a:r>
            <a:endParaRPr lang="en-US" sz="1050" dirty="0"/>
          </a:p>
          <a:p>
            <a:pPr marL="0" indent="0" algn="ctr">
              <a:buNone/>
            </a:pPr>
            <a:r>
              <a:rPr lang="en-US" sz="1050" b="1" dirty="0">
                <a:solidFill>
                  <a:srgbClr val="FFFFFF"/>
                </a:solidFill>
                <a:latin typeface="Aptos" pitchFamily="34" charset="0"/>
                <a:ea typeface="Aptos" pitchFamily="34" charset="-122"/>
                <a:cs typeface="Aptos" pitchFamily="34" charset="-120"/>
              </a:rPr>
              <a:t>travel under grade/speed</a:t>
            </a:r>
            <a:endParaRPr lang="en-US" sz="1050" dirty="0"/>
          </a:p>
        </p:txBody>
      </p:sp>
      <p:sp>
        <p:nvSpPr>
          <p:cNvPr id="10" name="Shape 8"/>
          <p:cNvSpPr/>
          <p:nvPr/>
        </p:nvSpPr>
        <p:spPr>
          <a:xfrm>
            <a:off x="7302093" y="1901952"/>
            <a:ext cx="667512" cy="0"/>
          </a:xfrm>
          <a:prstGeom prst="line">
            <a:avLst/>
          </a:prstGeom>
          <a:noFill/>
          <a:ln w="16510">
            <a:solidFill>
              <a:srgbClr val="64748B"/>
            </a:solidFill>
            <a:prstDash val="solid"/>
            <a:headEnd type="none"/>
            <a:tailEnd type="triangle"/>
          </a:ln>
        </p:spPr>
        <p:txBody>
          <a:bodyPr/>
          <a:lstStyle/>
          <a:p>
            <a:endParaRPr lang="en-US"/>
          </a:p>
        </p:txBody>
      </p:sp>
      <p:sp>
        <p:nvSpPr>
          <p:cNvPr id="11" name="Text 9"/>
          <p:cNvSpPr/>
          <p:nvPr/>
        </p:nvSpPr>
        <p:spPr>
          <a:xfrm>
            <a:off x="8106765" y="1600200"/>
            <a:ext cx="1828800" cy="594360"/>
          </a:xfrm>
          <a:prstGeom prst="rect">
            <a:avLst/>
          </a:prstGeom>
          <a:solidFill>
            <a:srgbClr val="16A34A"/>
          </a:solidFill>
          <a:ln>
            <a:solidFill>
              <a:srgbClr val="16A34A">
                <a:alpha val="0"/>
              </a:srgbClr>
            </a:solidFill>
          </a:ln>
        </p:spPr>
        <p:txBody>
          <a:bodyPr wrap="square" lIns="762" tIns="762" rIns="762" bIns="762"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DESTINATION</a:t>
            </a:r>
            <a:endParaRPr lang="en-US" sz="1050" dirty="0"/>
          </a:p>
          <a:p>
            <a:pPr marL="0" indent="0" algn="ctr">
              <a:buNone/>
            </a:pPr>
            <a:r>
              <a:rPr lang="en-US" sz="1050" b="1" dirty="0">
                <a:solidFill>
                  <a:srgbClr val="FFFFFF"/>
                </a:solidFill>
                <a:latin typeface="Aptos" pitchFamily="34" charset="0"/>
                <a:ea typeface="Aptos" pitchFamily="34" charset="-122"/>
                <a:cs typeface="Aptos" pitchFamily="34" charset="-120"/>
              </a:rPr>
              <a:t>crusher • stockpile • dump</a:t>
            </a:r>
            <a:endParaRPr lang="en-US" sz="1050" dirty="0"/>
          </a:p>
        </p:txBody>
      </p:sp>
      <p:sp>
        <p:nvSpPr>
          <p:cNvPr id="12" name="Shape 10"/>
          <p:cNvSpPr/>
          <p:nvPr/>
        </p:nvSpPr>
        <p:spPr>
          <a:xfrm>
            <a:off x="10100157" y="1901952"/>
            <a:ext cx="585216" cy="0"/>
          </a:xfrm>
          <a:prstGeom prst="line">
            <a:avLst/>
          </a:prstGeom>
          <a:noFill/>
          <a:ln w="16510">
            <a:solidFill>
              <a:srgbClr val="64748B"/>
            </a:solidFill>
            <a:prstDash val="solid"/>
            <a:headEnd type="none"/>
            <a:tailEnd type="triangle"/>
          </a:ln>
        </p:spPr>
        <p:txBody>
          <a:bodyPr/>
          <a:lstStyle/>
          <a:p>
            <a:endParaRPr lang="en-US"/>
          </a:p>
        </p:txBody>
      </p:sp>
      <p:sp>
        <p:nvSpPr>
          <p:cNvPr id="13" name="Text 11"/>
          <p:cNvSpPr/>
          <p:nvPr/>
        </p:nvSpPr>
        <p:spPr>
          <a:xfrm>
            <a:off x="10785956" y="1600200"/>
            <a:ext cx="1193608" cy="594360"/>
          </a:xfrm>
          <a:prstGeom prst="rect">
            <a:avLst/>
          </a:prstGeom>
          <a:solidFill>
            <a:srgbClr val="7C3AED"/>
          </a:solidFill>
          <a:ln>
            <a:solidFill>
              <a:srgbClr val="7C3AED">
                <a:alpha val="0"/>
              </a:srgbClr>
            </a:solidFill>
          </a:ln>
        </p:spPr>
        <p:txBody>
          <a:bodyPr wrap="square" lIns="762" tIns="762" rIns="762" bIns="762"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NEXT JOB</a:t>
            </a:r>
            <a:endParaRPr lang="en-US" sz="1050" dirty="0"/>
          </a:p>
          <a:p>
            <a:pPr marL="0" indent="0" algn="ctr">
              <a:buNone/>
            </a:pPr>
            <a:r>
              <a:rPr lang="en-US" sz="1050" b="1" dirty="0">
                <a:solidFill>
                  <a:srgbClr val="FFFFFF"/>
                </a:solidFill>
                <a:latin typeface="Aptos" pitchFamily="34" charset="0"/>
                <a:ea typeface="Aptos" pitchFamily="34" charset="-122"/>
                <a:cs typeface="Aptos" pitchFamily="34" charset="-120"/>
              </a:rPr>
              <a:t>reassign or repeat</a:t>
            </a:r>
            <a:endParaRPr lang="en-US" sz="1050" dirty="0"/>
          </a:p>
        </p:txBody>
      </p:sp>
      <p:sp>
        <p:nvSpPr>
          <p:cNvPr id="15" name="Text 12"/>
          <p:cNvSpPr/>
          <p:nvPr/>
        </p:nvSpPr>
        <p:spPr>
          <a:xfrm>
            <a:off x="5096622" y="2733502"/>
            <a:ext cx="3200400" cy="164592"/>
          </a:xfrm>
          <a:prstGeom prst="rect">
            <a:avLst/>
          </a:prstGeom>
          <a:noFill/>
          <a:ln/>
        </p:spPr>
        <p:txBody>
          <a:bodyPr wrap="square" lIns="0" tIns="0" rIns="0" bIns="0" rtlCol="0" anchor="ctr">
            <a:normAutofit/>
          </a:bodyPr>
          <a:lstStyle/>
          <a:p>
            <a:pPr marL="0" indent="0">
              <a:buNone/>
            </a:pPr>
            <a:r>
              <a:rPr lang="en-US" sz="680" b="1" dirty="0">
                <a:solidFill>
                  <a:srgbClr val="2563EB"/>
                </a:solidFill>
                <a:latin typeface="Aptos" pitchFamily="34" charset="0"/>
                <a:ea typeface="Aptos" pitchFamily="34" charset="-122"/>
                <a:cs typeface="Aptos" pitchFamily="34" charset="-120"/>
              </a:rPr>
              <a:t>CYCLE-TIME EQUATION IN PLAIN LOGIC</a:t>
            </a:r>
            <a:endParaRPr lang="en-US" sz="680" dirty="0"/>
          </a:p>
        </p:txBody>
      </p:sp>
      <p:sp>
        <p:nvSpPr>
          <p:cNvPr id="16" name="Text 13"/>
          <p:cNvSpPr/>
          <p:nvPr/>
        </p:nvSpPr>
        <p:spPr>
          <a:xfrm>
            <a:off x="5096622" y="3126694"/>
            <a:ext cx="3246120" cy="658368"/>
          </a:xfrm>
          <a:prstGeom prst="rect">
            <a:avLst/>
          </a:prstGeom>
          <a:solidFill>
            <a:srgbClr val="FFFFFF"/>
          </a:solidFill>
          <a:ln w="13970">
            <a:solidFill>
              <a:srgbClr val="E5E7EB"/>
            </a:solidFill>
          </a:ln>
        </p:spPr>
        <p:txBody>
          <a:bodyPr wrap="square" lIns="91440" tIns="1651" rIns="1651" bIns="1651" rtlCol="0" anchor="ctr">
            <a:normAutofit/>
          </a:bodyPr>
          <a:lstStyle/>
          <a:p>
            <a:pPr marL="0" indent="0">
              <a:buNone/>
            </a:pPr>
            <a:r>
              <a:rPr lang="en-US" sz="1050" dirty="0">
                <a:solidFill>
                  <a:srgbClr val="334155"/>
                </a:solidFill>
                <a:latin typeface="Aptos" pitchFamily="34" charset="0"/>
                <a:ea typeface="Aptos" pitchFamily="34" charset="-122"/>
                <a:cs typeface="Aptos" pitchFamily="34" charset="-120"/>
              </a:rPr>
              <a:t>Travel time</a:t>
            </a:r>
            <a:endParaRPr lang="en-US" sz="1050" dirty="0"/>
          </a:p>
          <a:p>
            <a:pPr marL="0" indent="0">
              <a:buNone/>
            </a:pPr>
            <a:r>
              <a:rPr lang="en-US" sz="1050" dirty="0">
                <a:solidFill>
                  <a:srgbClr val="334155"/>
                </a:solidFill>
                <a:latin typeface="Aptos" pitchFamily="34" charset="0"/>
                <a:ea typeface="Aptos" pitchFamily="34" charset="-122"/>
                <a:cs typeface="Aptos" pitchFamily="34" charset="-120"/>
              </a:rPr>
              <a:t>distance ÷ speed, adjusted by road grade and disruption factors</a:t>
            </a:r>
            <a:endParaRPr lang="en-US" sz="1050" dirty="0"/>
          </a:p>
        </p:txBody>
      </p:sp>
      <p:sp>
        <p:nvSpPr>
          <p:cNvPr id="17" name="Shape 14"/>
          <p:cNvSpPr/>
          <p:nvPr/>
        </p:nvSpPr>
        <p:spPr>
          <a:xfrm>
            <a:off x="5078150" y="3126694"/>
            <a:ext cx="73152" cy="658368"/>
          </a:xfrm>
          <a:prstGeom prst="rect">
            <a:avLst/>
          </a:prstGeom>
          <a:solidFill>
            <a:srgbClr val="0891B2"/>
          </a:solidFill>
          <a:ln w="12700">
            <a:solidFill>
              <a:srgbClr val="0891B2">
                <a:alpha val="0"/>
              </a:srgbClr>
            </a:solidFill>
            <a:prstDash val="solid"/>
          </a:ln>
        </p:spPr>
        <p:txBody>
          <a:bodyPr/>
          <a:lstStyle/>
          <a:p>
            <a:endParaRPr lang="en-US"/>
          </a:p>
        </p:txBody>
      </p:sp>
      <p:sp>
        <p:nvSpPr>
          <p:cNvPr id="18" name="Text 15"/>
          <p:cNvSpPr/>
          <p:nvPr/>
        </p:nvSpPr>
        <p:spPr>
          <a:xfrm>
            <a:off x="5096622" y="3986230"/>
            <a:ext cx="3246120" cy="658368"/>
          </a:xfrm>
          <a:prstGeom prst="rect">
            <a:avLst/>
          </a:prstGeom>
          <a:solidFill>
            <a:srgbClr val="FFFFFF"/>
          </a:solidFill>
          <a:ln w="13970">
            <a:solidFill>
              <a:srgbClr val="E5E7EB"/>
            </a:solidFill>
          </a:ln>
        </p:spPr>
        <p:txBody>
          <a:bodyPr wrap="square" lIns="91440" tIns="1651" rIns="1651" bIns="1651" rtlCol="0" anchor="ctr">
            <a:normAutofit/>
          </a:bodyPr>
          <a:lstStyle/>
          <a:p>
            <a:pPr marL="0" indent="0">
              <a:buNone/>
            </a:pPr>
            <a:r>
              <a:rPr lang="en-US" sz="1050" dirty="0">
                <a:solidFill>
                  <a:srgbClr val="334155"/>
                </a:solidFill>
                <a:latin typeface="Aptos" pitchFamily="34" charset="0"/>
                <a:ea typeface="Aptos" pitchFamily="34" charset="-122"/>
                <a:cs typeface="Aptos" pitchFamily="34" charset="-120"/>
              </a:rPr>
              <a:t>Load + dump/service</a:t>
            </a:r>
            <a:endParaRPr lang="en-US" sz="1050" dirty="0"/>
          </a:p>
          <a:p>
            <a:pPr marL="0" indent="0">
              <a:buNone/>
            </a:pPr>
            <a:r>
              <a:rPr lang="en-US" sz="1050" dirty="0">
                <a:solidFill>
                  <a:srgbClr val="334155"/>
                </a:solidFill>
                <a:latin typeface="Aptos" pitchFamily="34" charset="0"/>
                <a:ea typeface="Aptos" pitchFamily="34" charset="-122"/>
                <a:cs typeface="Aptos" pitchFamily="34" charset="-120"/>
              </a:rPr>
              <a:t>shovel loading time + crusher/dump/stockpile service time</a:t>
            </a:r>
            <a:endParaRPr lang="en-US" sz="1050" dirty="0"/>
          </a:p>
        </p:txBody>
      </p:sp>
      <p:sp>
        <p:nvSpPr>
          <p:cNvPr id="19" name="Shape 16"/>
          <p:cNvSpPr/>
          <p:nvPr/>
        </p:nvSpPr>
        <p:spPr>
          <a:xfrm>
            <a:off x="5078150" y="3986230"/>
            <a:ext cx="73152" cy="658368"/>
          </a:xfrm>
          <a:prstGeom prst="rect">
            <a:avLst/>
          </a:prstGeom>
          <a:solidFill>
            <a:srgbClr val="EA580C"/>
          </a:solidFill>
          <a:ln w="12700">
            <a:solidFill>
              <a:srgbClr val="EA580C">
                <a:alpha val="0"/>
              </a:srgbClr>
            </a:solidFill>
            <a:prstDash val="solid"/>
          </a:ln>
        </p:spPr>
        <p:txBody>
          <a:bodyPr/>
          <a:lstStyle/>
          <a:p>
            <a:endParaRPr lang="en-US"/>
          </a:p>
        </p:txBody>
      </p:sp>
      <p:sp>
        <p:nvSpPr>
          <p:cNvPr id="20" name="Text 17"/>
          <p:cNvSpPr/>
          <p:nvPr/>
        </p:nvSpPr>
        <p:spPr>
          <a:xfrm>
            <a:off x="5096622" y="4845766"/>
            <a:ext cx="3246120" cy="658368"/>
          </a:xfrm>
          <a:prstGeom prst="rect">
            <a:avLst/>
          </a:prstGeom>
          <a:solidFill>
            <a:srgbClr val="FFFFFF"/>
          </a:solidFill>
          <a:ln w="13970">
            <a:solidFill>
              <a:srgbClr val="E5E7EB"/>
            </a:solidFill>
          </a:ln>
        </p:spPr>
        <p:txBody>
          <a:bodyPr wrap="square" lIns="91440" tIns="1651" rIns="1651" bIns="1651" rtlCol="0" anchor="ctr">
            <a:normAutofit/>
          </a:bodyPr>
          <a:lstStyle/>
          <a:p>
            <a:pPr marL="0" indent="0">
              <a:buNone/>
            </a:pPr>
            <a:r>
              <a:rPr lang="en-US" sz="1050" dirty="0">
                <a:solidFill>
                  <a:srgbClr val="334155"/>
                </a:solidFill>
                <a:latin typeface="Aptos" pitchFamily="34" charset="0"/>
                <a:ea typeface="Aptos" pitchFamily="34" charset="-122"/>
                <a:cs typeface="Aptos" pitchFamily="34" charset="-120"/>
              </a:rPr>
              <a:t>Productive output</a:t>
            </a:r>
            <a:endParaRPr lang="en-US" sz="1050" dirty="0"/>
          </a:p>
          <a:p>
            <a:pPr marL="0" indent="0">
              <a:buNone/>
            </a:pPr>
            <a:r>
              <a:rPr lang="en-US" sz="1050" dirty="0">
                <a:solidFill>
                  <a:srgbClr val="334155"/>
                </a:solidFill>
                <a:latin typeface="Aptos" pitchFamily="34" charset="0"/>
                <a:ea typeface="Aptos" pitchFamily="34" charset="-122"/>
                <a:cs typeface="Aptos" pitchFamily="34" charset="-120"/>
              </a:rPr>
              <a:t>payload × completed cycles × availability</a:t>
            </a:r>
            <a:endParaRPr lang="en-US" sz="1050" dirty="0"/>
          </a:p>
        </p:txBody>
      </p:sp>
      <p:sp>
        <p:nvSpPr>
          <p:cNvPr id="21" name="Shape 18"/>
          <p:cNvSpPr/>
          <p:nvPr/>
        </p:nvSpPr>
        <p:spPr>
          <a:xfrm>
            <a:off x="5078150" y="4845766"/>
            <a:ext cx="73152" cy="658368"/>
          </a:xfrm>
          <a:prstGeom prst="rect">
            <a:avLst/>
          </a:prstGeom>
          <a:solidFill>
            <a:srgbClr val="16A34A"/>
          </a:solidFill>
          <a:ln w="12700">
            <a:solidFill>
              <a:srgbClr val="16A34A">
                <a:alpha val="0"/>
              </a:srgbClr>
            </a:solidFill>
            <a:prstDash val="solid"/>
          </a:ln>
        </p:spPr>
        <p:txBody>
          <a:bodyPr/>
          <a:lstStyle/>
          <a:p>
            <a:endParaRPr lang="en-US"/>
          </a:p>
        </p:txBody>
      </p:sp>
      <p:sp>
        <p:nvSpPr>
          <p:cNvPr id="22" name="Text 19"/>
          <p:cNvSpPr/>
          <p:nvPr/>
        </p:nvSpPr>
        <p:spPr>
          <a:xfrm>
            <a:off x="8754222" y="2733502"/>
            <a:ext cx="2743200" cy="164592"/>
          </a:xfrm>
          <a:prstGeom prst="rect">
            <a:avLst/>
          </a:prstGeom>
          <a:noFill/>
          <a:ln/>
        </p:spPr>
        <p:txBody>
          <a:bodyPr wrap="square" lIns="0" tIns="0" rIns="0" bIns="0" rtlCol="0" anchor="ctr">
            <a:normAutofit/>
          </a:bodyPr>
          <a:lstStyle/>
          <a:p>
            <a:pPr marL="0" indent="0">
              <a:buNone/>
            </a:pPr>
            <a:r>
              <a:rPr lang="en-US" sz="680" b="1" dirty="0">
                <a:solidFill>
                  <a:srgbClr val="7C3AED"/>
                </a:solidFill>
                <a:latin typeface="Aptos" pitchFamily="34" charset="0"/>
                <a:ea typeface="Aptos" pitchFamily="34" charset="-122"/>
                <a:cs typeface="Aptos" pitchFamily="34" charset="-120"/>
              </a:rPr>
              <a:t>PROFESSIONAL LEARNING POINT</a:t>
            </a:r>
            <a:endParaRPr lang="en-US" sz="680" dirty="0"/>
          </a:p>
        </p:txBody>
      </p:sp>
      <p:sp>
        <p:nvSpPr>
          <p:cNvPr id="23" name="Text 20"/>
          <p:cNvSpPr/>
          <p:nvPr/>
        </p:nvSpPr>
        <p:spPr>
          <a:xfrm>
            <a:off x="8754222" y="3144982"/>
            <a:ext cx="3108960" cy="1600200"/>
          </a:xfrm>
          <a:prstGeom prst="rect">
            <a:avLst/>
          </a:prstGeom>
          <a:noFill/>
          <a:ln/>
        </p:spPr>
        <p:txBody>
          <a:bodyPr wrap="square" lIns="762" tIns="762" rIns="762" bIns="762" rtlCol="0" anchor="ctr">
            <a:normAutofit/>
          </a:bodyPr>
          <a:lstStyle/>
          <a:p>
            <a:r>
              <a:rPr lang="en-US" sz="1200" dirty="0">
                <a:solidFill>
                  <a:srgbClr val="334155"/>
                </a:solidFill>
                <a:latin typeface="Aptos" pitchFamily="34" charset="0"/>
                <a:ea typeface="Aptos" pitchFamily="34" charset="-122"/>
                <a:cs typeface="Aptos" pitchFamily="34" charset="-120"/>
              </a:rPr>
              <a:t>Movement is not only a tonnes target — it is a constrained flow through physical assets.</a:t>
            </a:r>
            <a:endParaRPr lang="en-US" sz="1200" dirty="0"/>
          </a:p>
          <a:p>
            <a:r>
              <a:rPr lang="en-US" sz="1200" dirty="0">
                <a:solidFill>
                  <a:srgbClr val="334155"/>
                </a:solidFill>
                <a:latin typeface="Aptos" pitchFamily="34" charset="0"/>
                <a:ea typeface="Aptos" pitchFamily="34" charset="-122"/>
                <a:cs typeface="Aptos" pitchFamily="34" charset="-120"/>
              </a:rPr>
              <a:t>A good plan can fail if roads, loaders, destinations or truck availability cannot execute it.</a:t>
            </a:r>
            <a:endParaRPr lang="en-US" sz="1200" dirty="0"/>
          </a:p>
        </p:txBody>
      </p:sp>
      <p:sp>
        <p:nvSpPr>
          <p:cNvPr id="25" name="Slide Number Placeholder 0"/>
          <p:cNvSpPr>
            <a:spLocks noGrp="1"/>
          </p:cNvSpPr>
          <p:nvPr>
            <p:ph type="sldNum" sz="quarter" idx="4294967295"/>
          </p:nvPr>
        </p:nvSpPr>
        <p:spPr>
          <a:xfrm>
            <a:off x="11384280" y="6528816"/>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lang="en-US" b="0"/>
              <a:t>5</a:t>
            </a:fld>
            <a:endParaRPr lang="en-US"/>
          </a:p>
        </p:txBody>
      </p:sp>
      <p:pic>
        <p:nvPicPr>
          <p:cNvPr id="28" name="Picture 27">
            <a:extLst>
              <a:ext uri="{FF2B5EF4-FFF2-40B4-BE49-F238E27FC236}">
                <a16:creationId xmlns:a16="http://schemas.microsoft.com/office/drawing/2014/main" id="{D94CD9A8-64B5-EA13-A331-D45F10DA436B}"/>
              </a:ext>
            </a:extLst>
          </p:cNvPr>
          <p:cNvPicPr>
            <a:picLocks noChangeAspect="1"/>
          </p:cNvPicPr>
          <p:nvPr/>
        </p:nvPicPr>
        <p:blipFill>
          <a:blip r:embed="rId3"/>
          <a:stretch>
            <a:fillRect/>
          </a:stretch>
        </p:blipFill>
        <p:spPr>
          <a:xfrm>
            <a:off x="294410" y="2542678"/>
            <a:ext cx="4453084" cy="335034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274320"/>
            <a:ext cx="4206240" cy="201168"/>
          </a:xfrm>
          <a:prstGeom prst="rect">
            <a:avLst/>
          </a:prstGeom>
          <a:noFill/>
          <a:ln/>
        </p:spPr>
        <p:txBody>
          <a:bodyPr wrap="square" lIns="0" tIns="0" rIns="0" bIns="0" rtlCol="0" anchor="ctr"/>
          <a:lstStyle/>
          <a:p>
            <a:pPr marL="0" indent="0">
              <a:buNone/>
            </a:pPr>
            <a:r>
              <a:rPr lang="en-US" sz="850" b="1" dirty="0">
                <a:solidFill>
                  <a:srgbClr val="2563EB"/>
                </a:solidFill>
                <a:latin typeface="Aptos" pitchFamily="34" charset="0"/>
                <a:ea typeface="Aptos" pitchFamily="34" charset="-122"/>
                <a:cs typeface="Aptos" pitchFamily="34" charset="-120"/>
              </a:rPr>
              <a:t>Operational KPI logic</a:t>
            </a:r>
            <a:endParaRPr lang="en-US" sz="850" dirty="0"/>
          </a:p>
        </p:txBody>
      </p:sp>
      <p:sp>
        <p:nvSpPr>
          <p:cNvPr id="3" name="Text 1"/>
          <p:cNvSpPr/>
          <p:nvPr/>
        </p:nvSpPr>
        <p:spPr>
          <a:xfrm>
            <a:off x="566928" y="530352"/>
            <a:ext cx="7680960" cy="475488"/>
          </a:xfrm>
          <a:prstGeom prst="rect">
            <a:avLst/>
          </a:prstGeom>
          <a:noFill/>
          <a:ln/>
        </p:spPr>
        <p:txBody>
          <a:bodyPr wrap="square" lIns="0" tIns="0" rIns="0" bIns="0" rtlCol="0" anchor="ctr"/>
          <a:lstStyle/>
          <a:p>
            <a:pPr marL="0" indent="0">
              <a:buNone/>
            </a:pPr>
            <a:r>
              <a:rPr lang="en-US" sz="2200" b="1" dirty="0">
                <a:solidFill>
                  <a:srgbClr val="0F172A"/>
                </a:solidFill>
                <a:latin typeface="Aptos Display" pitchFamily="34" charset="0"/>
                <a:ea typeface="Aptos Display" pitchFamily="34" charset="-122"/>
                <a:cs typeface="Aptos Display" pitchFamily="34" charset="-120"/>
              </a:rPr>
              <a:t>Beyond hitting tonnes: value-aware movement</a:t>
            </a:r>
            <a:endParaRPr lang="en-US" sz="2200" dirty="0"/>
          </a:p>
        </p:txBody>
      </p:sp>
      <p:sp>
        <p:nvSpPr>
          <p:cNvPr id="4" name="Shape 2"/>
          <p:cNvSpPr/>
          <p:nvPr/>
        </p:nvSpPr>
        <p:spPr>
          <a:xfrm>
            <a:off x="566928" y="1078992"/>
            <a:ext cx="11064240" cy="0"/>
          </a:xfrm>
          <a:prstGeom prst="line">
            <a:avLst/>
          </a:prstGeom>
          <a:noFill/>
          <a:ln w="12700">
            <a:solidFill>
              <a:srgbClr val="E2E8F0"/>
            </a:solidFill>
            <a:prstDash val="solid"/>
          </a:ln>
        </p:spPr>
        <p:txBody>
          <a:bodyPr/>
          <a:lstStyle/>
          <a:p>
            <a:endParaRPr lang="en-US"/>
          </a:p>
        </p:txBody>
      </p:sp>
      <p:sp>
        <p:nvSpPr>
          <p:cNvPr id="5" name="Text 3"/>
          <p:cNvSpPr/>
          <p:nvPr/>
        </p:nvSpPr>
        <p:spPr>
          <a:xfrm>
            <a:off x="731520" y="1325880"/>
            <a:ext cx="6492240" cy="896112"/>
          </a:xfrm>
          <a:prstGeom prst="rect">
            <a:avLst/>
          </a:prstGeom>
          <a:noFill/>
          <a:ln/>
        </p:spPr>
        <p:txBody>
          <a:bodyPr wrap="square" lIns="635" tIns="635" rIns="635" bIns="635" rtlCol="0" anchor="ctr">
            <a:normAutofit/>
          </a:bodyPr>
          <a:lstStyle/>
          <a:p>
            <a:pPr marL="0" indent="0">
              <a:buNone/>
            </a:pPr>
            <a:r>
              <a:rPr lang="en-US" sz="1800" b="1" dirty="0">
                <a:solidFill>
                  <a:srgbClr val="0F172A"/>
                </a:solidFill>
                <a:latin typeface="Aptos Display" pitchFamily="34" charset="0"/>
                <a:ea typeface="Aptos Display" pitchFamily="34" charset="-122"/>
                <a:cs typeface="Aptos Display" pitchFamily="34" charset="-120"/>
              </a:rPr>
              <a:t>A high attainment score can be misleading if the movement is waste-heavy and the plant is not protected with ready ore.</a:t>
            </a:r>
            <a:endParaRPr lang="en-US" sz="1800" dirty="0"/>
          </a:p>
        </p:txBody>
      </p:sp>
      <p:sp>
        <p:nvSpPr>
          <p:cNvPr id="7" name="Text 4"/>
          <p:cNvSpPr/>
          <p:nvPr/>
        </p:nvSpPr>
        <p:spPr>
          <a:xfrm>
            <a:off x="749808" y="2227076"/>
            <a:ext cx="3017520" cy="164592"/>
          </a:xfrm>
          <a:prstGeom prst="rect">
            <a:avLst/>
          </a:prstGeom>
          <a:noFill/>
          <a:ln/>
        </p:spPr>
        <p:txBody>
          <a:bodyPr wrap="square" lIns="0" tIns="0" rIns="0" bIns="0" rtlCol="0" anchor="ctr">
            <a:normAutofit/>
          </a:bodyPr>
          <a:lstStyle/>
          <a:p>
            <a:pPr marL="0" indent="0">
              <a:buNone/>
            </a:pPr>
            <a:r>
              <a:rPr lang="en-US" sz="680" b="1" dirty="0">
                <a:solidFill>
                  <a:srgbClr val="16A34A"/>
                </a:solidFill>
                <a:latin typeface="Aptos" pitchFamily="34" charset="0"/>
                <a:ea typeface="Aptos" pitchFamily="34" charset="-122"/>
                <a:cs typeface="Aptos" pitchFamily="34" charset="-120"/>
              </a:rPr>
              <a:t>WHAT I ADDED TO THE THINKING</a:t>
            </a:r>
            <a:endParaRPr lang="en-US" sz="680" dirty="0"/>
          </a:p>
        </p:txBody>
      </p:sp>
      <p:sp>
        <p:nvSpPr>
          <p:cNvPr id="8" name="Text 5"/>
          <p:cNvSpPr/>
          <p:nvPr/>
        </p:nvSpPr>
        <p:spPr>
          <a:xfrm>
            <a:off x="795528" y="2616202"/>
            <a:ext cx="5760720" cy="1285244"/>
          </a:xfrm>
          <a:prstGeom prst="rect">
            <a:avLst/>
          </a:prstGeom>
          <a:noFill/>
          <a:ln/>
        </p:spPr>
        <p:txBody>
          <a:bodyPr wrap="square" lIns="762" tIns="762" rIns="762" bIns="762" rtlCol="0" anchor="ctr">
            <a:normAutofit/>
          </a:bodyPr>
          <a:lstStyle/>
          <a:p>
            <a:r>
              <a:rPr lang="en-US" sz="1250" dirty="0">
                <a:solidFill>
                  <a:srgbClr val="334155"/>
                </a:solidFill>
                <a:latin typeface="Aptos" pitchFamily="34" charset="0"/>
                <a:ea typeface="Aptos" pitchFamily="34" charset="-122"/>
                <a:cs typeface="Aptos" pitchFamily="34" charset="-120"/>
              </a:rPr>
              <a:t>Movement target: did trucks move enough </a:t>
            </a:r>
            <a:r>
              <a:rPr lang="en-US" sz="1250" dirty="0" err="1">
                <a:solidFill>
                  <a:srgbClr val="334155"/>
                </a:solidFill>
                <a:latin typeface="Aptos" pitchFamily="34" charset="0"/>
                <a:ea typeface="Aptos" pitchFamily="34" charset="-122"/>
                <a:cs typeface="Aptos" pitchFamily="34" charset="-120"/>
              </a:rPr>
              <a:t>tonnes</a:t>
            </a:r>
            <a:r>
              <a:rPr lang="en-US" sz="1250" dirty="0">
                <a:solidFill>
                  <a:srgbClr val="334155"/>
                </a:solidFill>
                <a:latin typeface="Aptos" pitchFamily="34" charset="0"/>
                <a:ea typeface="Aptos" pitchFamily="34" charset="-122"/>
                <a:cs typeface="Aptos" pitchFamily="34" charset="-120"/>
              </a:rPr>
              <a:t>?</a:t>
            </a:r>
            <a:endParaRPr lang="en-US" sz="1250" dirty="0"/>
          </a:p>
          <a:p>
            <a:r>
              <a:rPr lang="en-US" sz="1250" dirty="0">
                <a:solidFill>
                  <a:srgbClr val="334155"/>
                </a:solidFill>
                <a:latin typeface="Aptos" pitchFamily="34" charset="0"/>
                <a:ea typeface="Aptos" pitchFamily="34" charset="-122"/>
                <a:cs typeface="Aptos" pitchFamily="34" charset="-120"/>
              </a:rPr>
              <a:t>Material target: was it ore, waste, reclaim or stockpile build?</a:t>
            </a:r>
            <a:endParaRPr lang="en-US" sz="1250" dirty="0"/>
          </a:p>
          <a:p>
            <a:r>
              <a:rPr lang="en-US" sz="1250" dirty="0">
                <a:solidFill>
                  <a:srgbClr val="334155"/>
                </a:solidFill>
                <a:latin typeface="Aptos" pitchFamily="34" charset="0"/>
                <a:ea typeface="Aptos" pitchFamily="34" charset="-122"/>
                <a:cs typeface="Aptos" pitchFamily="34" charset="-120"/>
              </a:rPr>
              <a:t>Value target: did movement improve plant feed readiness and economic priority?</a:t>
            </a:r>
            <a:endParaRPr lang="en-US" sz="1250" dirty="0"/>
          </a:p>
          <a:p>
            <a:r>
              <a:rPr lang="en-US" sz="1250" dirty="0">
                <a:solidFill>
                  <a:srgbClr val="334155"/>
                </a:solidFill>
                <a:latin typeface="Aptos" pitchFamily="34" charset="0"/>
                <a:ea typeface="Aptos" pitchFamily="34" charset="-122"/>
                <a:cs typeface="Aptos" pitchFamily="34" charset="-120"/>
              </a:rPr>
              <a:t>Stockpile target: is ROM stockpile ready to feed the plant when current mining is disrupted?</a:t>
            </a:r>
            <a:endParaRPr lang="en-US" sz="1250" dirty="0"/>
          </a:p>
        </p:txBody>
      </p:sp>
      <p:sp>
        <p:nvSpPr>
          <p:cNvPr id="9" name="Text 6"/>
          <p:cNvSpPr/>
          <p:nvPr/>
        </p:nvSpPr>
        <p:spPr>
          <a:xfrm>
            <a:off x="7616768" y="2586366"/>
            <a:ext cx="3931920" cy="658368"/>
          </a:xfrm>
          <a:prstGeom prst="rect">
            <a:avLst/>
          </a:prstGeom>
          <a:solidFill>
            <a:srgbClr val="FFFFFF"/>
          </a:solidFill>
          <a:ln w="13970">
            <a:solidFill>
              <a:srgbClr val="E5E7EB"/>
            </a:solidFill>
          </a:ln>
        </p:spPr>
        <p:txBody>
          <a:bodyPr wrap="square" lIns="91440" tIns="1651" rIns="1651" bIns="1651" rtlCol="0" anchor="ctr">
            <a:normAutofit/>
          </a:bodyPr>
          <a:lstStyle/>
          <a:p>
            <a:pPr marL="0" indent="0">
              <a:buNone/>
            </a:pPr>
            <a:r>
              <a:rPr lang="en-US" sz="1050" b="1" dirty="0">
                <a:solidFill>
                  <a:srgbClr val="334155"/>
                </a:solidFill>
                <a:latin typeface="Aptos" pitchFamily="34" charset="0"/>
                <a:ea typeface="Aptos" pitchFamily="34" charset="-122"/>
                <a:cs typeface="Aptos" pitchFamily="34" charset="-120"/>
              </a:rPr>
              <a:t>Waste-heavy risk</a:t>
            </a:r>
            <a:endParaRPr lang="en-US" sz="1050" b="1" dirty="0"/>
          </a:p>
          <a:p>
            <a:pPr marL="0" indent="0">
              <a:buNone/>
            </a:pPr>
            <a:r>
              <a:rPr lang="en-US" sz="1050" dirty="0">
                <a:solidFill>
                  <a:srgbClr val="334155"/>
                </a:solidFill>
                <a:latin typeface="Aptos" pitchFamily="34" charset="0"/>
                <a:ea typeface="Aptos" pitchFamily="34" charset="-122"/>
                <a:cs typeface="Aptos" pitchFamily="34" charset="-120"/>
              </a:rPr>
              <a:t>90% movement attainment can still be weak if the plant has insufficient ore feed.</a:t>
            </a:r>
            <a:endParaRPr lang="en-US" sz="1050" dirty="0"/>
          </a:p>
        </p:txBody>
      </p:sp>
      <p:sp>
        <p:nvSpPr>
          <p:cNvPr id="10" name="Shape 7"/>
          <p:cNvSpPr/>
          <p:nvPr/>
        </p:nvSpPr>
        <p:spPr>
          <a:xfrm>
            <a:off x="7589060" y="2586366"/>
            <a:ext cx="73152" cy="658368"/>
          </a:xfrm>
          <a:prstGeom prst="rect">
            <a:avLst/>
          </a:prstGeom>
          <a:solidFill>
            <a:srgbClr val="DC2626"/>
          </a:solidFill>
          <a:ln w="12700">
            <a:solidFill>
              <a:srgbClr val="DC2626">
                <a:alpha val="0"/>
              </a:srgbClr>
            </a:solidFill>
            <a:prstDash val="solid"/>
          </a:ln>
        </p:spPr>
        <p:txBody>
          <a:bodyPr/>
          <a:lstStyle/>
          <a:p>
            <a:endParaRPr lang="en-US"/>
          </a:p>
        </p:txBody>
      </p:sp>
      <p:sp>
        <p:nvSpPr>
          <p:cNvPr id="11" name="Text 8"/>
          <p:cNvSpPr/>
          <p:nvPr/>
        </p:nvSpPr>
        <p:spPr>
          <a:xfrm>
            <a:off x="7616768" y="3409326"/>
            <a:ext cx="3931920" cy="658368"/>
          </a:xfrm>
          <a:prstGeom prst="rect">
            <a:avLst/>
          </a:prstGeom>
          <a:solidFill>
            <a:srgbClr val="FFFFFF"/>
          </a:solidFill>
          <a:ln w="13970">
            <a:solidFill>
              <a:srgbClr val="E5E7EB"/>
            </a:solidFill>
          </a:ln>
        </p:spPr>
        <p:txBody>
          <a:bodyPr wrap="square" lIns="91440" tIns="1651" rIns="1651" bIns="1651" rtlCol="0" anchor="ctr">
            <a:normAutofit/>
          </a:bodyPr>
          <a:lstStyle/>
          <a:p>
            <a:pPr marL="0" indent="0">
              <a:buNone/>
            </a:pPr>
            <a:r>
              <a:rPr lang="en-US" sz="1050" b="1" dirty="0">
                <a:solidFill>
                  <a:srgbClr val="334155"/>
                </a:solidFill>
                <a:latin typeface="Aptos" pitchFamily="34" charset="0"/>
                <a:ea typeface="Aptos" pitchFamily="34" charset="-122"/>
                <a:cs typeface="Aptos" pitchFamily="34" charset="-120"/>
              </a:rPr>
              <a:t>Operational value</a:t>
            </a:r>
            <a:endParaRPr lang="en-US" sz="1050" b="1" dirty="0"/>
          </a:p>
          <a:p>
            <a:pPr marL="0" indent="0">
              <a:buNone/>
            </a:pPr>
            <a:r>
              <a:rPr lang="en-US" sz="1050" dirty="0">
                <a:solidFill>
                  <a:srgbClr val="334155"/>
                </a:solidFill>
                <a:latin typeface="Aptos" pitchFamily="34" charset="0"/>
                <a:ea typeface="Aptos" pitchFamily="34" charset="-122"/>
                <a:cs typeface="Aptos" pitchFamily="34" charset="-120"/>
              </a:rPr>
              <a:t>MineOps links tonnes moved with material class, grade/value and destination intent.</a:t>
            </a:r>
            <a:endParaRPr lang="en-US" sz="1050" dirty="0"/>
          </a:p>
        </p:txBody>
      </p:sp>
      <p:sp>
        <p:nvSpPr>
          <p:cNvPr id="12" name="Shape 9"/>
          <p:cNvSpPr/>
          <p:nvPr/>
        </p:nvSpPr>
        <p:spPr>
          <a:xfrm>
            <a:off x="7589060" y="3409326"/>
            <a:ext cx="73152" cy="658368"/>
          </a:xfrm>
          <a:prstGeom prst="rect">
            <a:avLst/>
          </a:prstGeom>
          <a:solidFill>
            <a:srgbClr val="16A34A"/>
          </a:solidFill>
          <a:ln w="12700">
            <a:solidFill>
              <a:srgbClr val="16A34A">
                <a:alpha val="0"/>
              </a:srgbClr>
            </a:solidFill>
            <a:prstDash val="solid"/>
          </a:ln>
        </p:spPr>
        <p:txBody>
          <a:bodyPr/>
          <a:lstStyle/>
          <a:p>
            <a:endParaRPr lang="en-US"/>
          </a:p>
        </p:txBody>
      </p:sp>
      <p:sp>
        <p:nvSpPr>
          <p:cNvPr id="25" name="Slide Number Placeholder 0"/>
          <p:cNvSpPr>
            <a:spLocks noGrp="1"/>
          </p:cNvSpPr>
          <p:nvPr>
            <p:ph type="sldNum" sz="quarter" idx="4294967295"/>
          </p:nvPr>
        </p:nvSpPr>
        <p:spPr>
          <a:xfrm>
            <a:off x="11384280" y="6528816"/>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lang="en-US" b="0"/>
              <a:t>6</a:t>
            </a:fld>
            <a:endParaRPr lang="en-US"/>
          </a:p>
        </p:txBody>
      </p:sp>
      <p:pic>
        <p:nvPicPr>
          <p:cNvPr id="14" name="Picture 13">
            <a:extLst>
              <a:ext uri="{FF2B5EF4-FFF2-40B4-BE49-F238E27FC236}">
                <a16:creationId xmlns:a16="http://schemas.microsoft.com/office/drawing/2014/main" id="{993AD678-41B9-57C0-A03F-39B771EE0F08}"/>
              </a:ext>
            </a:extLst>
          </p:cNvPr>
          <p:cNvPicPr>
            <a:picLocks noChangeAspect="1"/>
          </p:cNvPicPr>
          <p:nvPr/>
        </p:nvPicPr>
        <p:blipFill>
          <a:blip r:embed="rId3"/>
          <a:stretch>
            <a:fillRect/>
          </a:stretch>
        </p:blipFill>
        <p:spPr>
          <a:xfrm>
            <a:off x="741403" y="4295656"/>
            <a:ext cx="10825757" cy="2040130"/>
          </a:xfrm>
          <a:prstGeom prst="rect">
            <a:avLst/>
          </a:prstGeom>
        </p:spPr>
      </p:pic>
      <p:pic>
        <p:nvPicPr>
          <p:cNvPr id="16" name="Picture 15">
            <a:extLst>
              <a:ext uri="{FF2B5EF4-FFF2-40B4-BE49-F238E27FC236}">
                <a16:creationId xmlns:a16="http://schemas.microsoft.com/office/drawing/2014/main" id="{5BD57DF6-EDFF-863A-B881-511B89F9CB3C}"/>
              </a:ext>
            </a:extLst>
          </p:cNvPr>
          <p:cNvPicPr>
            <a:picLocks noChangeAspect="1"/>
          </p:cNvPicPr>
          <p:nvPr/>
        </p:nvPicPr>
        <p:blipFill>
          <a:blip r:embed="rId4"/>
          <a:stretch>
            <a:fillRect/>
          </a:stretch>
        </p:blipFill>
        <p:spPr>
          <a:xfrm>
            <a:off x="7507051" y="1213283"/>
            <a:ext cx="4118021" cy="1180454"/>
          </a:xfrm>
          <a:prstGeom prst="rect">
            <a:avLst/>
          </a:prstGeom>
        </p:spPr>
      </p:pic>
      <p:sp>
        <p:nvSpPr>
          <p:cNvPr id="17" name="Rectangle 16">
            <a:extLst>
              <a:ext uri="{FF2B5EF4-FFF2-40B4-BE49-F238E27FC236}">
                <a16:creationId xmlns:a16="http://schemas.microsoft.com/office/drawing/2014/main" id="{C2B63F14-6379-A85A-4489-B9F18A3F0CF5}"/>
              </a:ext>
            </a:extLst>
          </p:cNvPr>
          <p:cNvSpPr/>
          <p:nvPr/>
        </p:nvSpPr>
        <p:spPr>
          <a:xfrm>
            <a:off x="10400145" y="4295656"/>
            <a:ext cx="1167015" cy="2040130"/>
          </a:xfrm>
          <a:prstGeom prst="rect">
            <a:avLst/>
          </a:prstGeom>
          <a:noFill/>
          <a:ln w="9525" cap="rnd">
            <a:solidFill>
              <a:srgbClr val="FF0000"/>
            </a:solidFill>
            <a:prstDash val="sysDash"/>
          </a:ln>
          <a:effectLst>
            <a:glow rad="38100">
              <a:srgbClr val="FF0000">
                <a:alpha val="4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274320"/>
            <a:ext cx="4206240" cy="201168"/>
          </a:xfrm>
          <a:prstGeom prst="rect">
            <a:avLst/>
          </a:prstGeom>
          <a:noFill/>
          <a:ln/>
        </p:spPr>
        <p:txBody>
          <a:bodyPr wrap="square" lIns="0" tIns="0" rIns="0" bIns="0" rtlCol="0" anchor="ctr"/>
          <a:lstStyle/>
          <a:p>
            <a:pPr marL="0" indent="0">
              <a:buNone/>
            </a:pPr>
            <a:r>
              <a:rPr lang="en-US" sz="850" b="1" dirty="0">
                <a:solidFill>
                  <a:srgbClr val="2563EB"/>
                </a:solidFill>
                <a:latin typeface="Aptos" pitchFamily="34" charset="0"/>
                <a:ea typeface="Aptos" pitchFamily="34" charset="-122"/>
                <a:cs typeface="Aptos" pitchFamily="34" charset="-120"/>
              </a:rPr>
              <a:t>Haul-road exposure</a:t>
            </a:r>
            <a:endParaRPr lang="en-US" sz="850" dirty="0"/>
          </a:p>
        </p:txBody>
      </p:sp>
      <p:sp>
        <p:nvSpPr>
          <p:cNvPr id="3" name="Text 1"/>
          <p:cNvSpPr/>
          <p:nvPr/>
        </p:nvSpPr>
        <p:spPr>
          <a:xfrm>
            <a:off x="566928" y="530352"/>
            <a:ext cx="7680960" cy="475488"/>
          </a:xfrm>
          <a:prstGeom prst="rect">
            <a:avLst/>
          </a:prstGeom>
          <a:noFill/>
          <a:ln/>
        </p:spPr>
        <p:txBody>
          <a:bodyPr wrap="square" lIns="0" tIns="0" rIns="0" bIns="0" rtlCol="0" anchor="ctr"/>
          <a:lstStyle/>
          <a:p>
            <a:pPr marL="0" indent="0">
              <a:buNone/>
            </a:pPr>
            <a:r>
              <a:rPr lang="en-US" sz="2200" b="1" dirty="0">
                <a:solidFill>
                  <a:srgbClr val="0F172A"/>
                </a:solidFill>
                <a:latin typeface="Aptos Display" pitchFamily="34" charset="0"/>
                <a:ea typeface="Aptos Display" pitchFamily="34" charset="-122"/>
                <a:cs typeface="Aptos Display" pitchFamily="34" charset="-120"/>
              </a:rPr>
              <a:t>Road grade: why route design changes output</a:t>
            </a:r>
            <a:endParaRPr lang="en-US" sz="2200" dirty="0"/>
          </a:p>
        </p:txBody>
      </p:sp>
      <p:sp>
        <p:nvSpPr>
          <p:cNvPr id="4" name="Shape 2"/>
          <p:cNvSpPr/>
          <p:nvPr/>
        </p:nvSpPr>
        <p:spPr>
          <a:xfrm>
            <a:off x="566928" y="1078992"/>
            <a:ext cx="11064240" cy="0"/>
          </a:xfrm>
          <a:prstGeom prst="line">
            <a:avLst/>
          </a:prstGeom>
          <a:noFill/>
          <a:ln w="12700">
            <a:solidFill>
              <a:srgbClr val="E2E8F0"/>
            </a:solidFill>
            <a:prstDash val="solid"/>
          </a:ln>
        </p:spPr>
        <p:txBody>
          <a:bodyPr/>
          <a:lstStyle/>
          <a:p>
            <a:endParaRPr lang="en-US"/>
          </a:p>
        </p:txBody>
      </p:sp>
      <p:sp>
        <p:nvSpPr>
          <p:cNvPr id="6" name="Text 3"/>
          <p:cNvSpPr/>
          <p:nvPr/>
        </p:nvSpPr>
        <p:spPr>
          <a:xfrm>
            <a:off x="6274260" y="1335392"/>
            <a:ext cx="2834640" cy="164592"/>
          </a:xfrm>
          <a:prstGeom prst="rect">
            <a:avLst/>
          </a:prstGeom>
          <a:noFill/>
          <a:ln/>
        </p:spPr>
        <p:txBody>
          <a:bodyPr wrap="square" lIns="0" tIns="0" rIns="0" bIns="0" rtlCol="0" anchor="ctr">
            <a:normAutofit/>
          </a:bodyPr>
          <a:lstStyle/>
          <a:p>
            <a:pPr marL="0" indent="0">
              <a:buNone/>
            </a:pPr>
            <a:r>
              <a:rPr lang="en-US" sz="680" b="1" dirty="0">
                <a:solidFill>
                  <a:srgbClr val="0891B2"/>
                </a:solidFill>
                <a:latin typeface="Aptos" pitchFamily="34" charset="0"/>
                <a:ea typeface="Aptos" pitchFamily="34" charset="-122"/>
                <a:cs typeface="Aptos" pitchFamily="34" charset="-120"/>
              </a:rPr>
              <a:t>WHAT THE PROJECT TAUGHT ME</a:t>
            </a:r>
            <a:endParaRPr lang="en-US" sz="680" dirty="0"/>
          </a:p>
        </p:txBody>
      </p:sp>
      <p:sp>
        <p:nvSpPr>
          <p:cNvPr id="7" name="Text 4"/>
          <p:cNvSpPr/>
          <p:nvPr/>
        </p:nvSpPr>
        <p:spPr>
          <a:xfrm>
            <a:off x="6319980" y="1664576"/>
            <a:ext cx="5166360" cy="1755648"/>
          </a:xfrm>
          <a:prstGeom prst="rect">
            <a:avLst/>
          </a:prstGeom>
          <a:noFill/>
          <a:ln/>
        </p:spPr>
        <p:txBody>
          <a:bodyPr wrap="square" lIns="762" tIns="762" rIns="762" bIns="762" rtlCol="0" anchor="ctr">
            <a:normAutofit/>
          </a:bodyPr>
          <a:lstStyle/>
          <a:p>
            <a:r>
              <a:rPr lang="en-US" sz="1250" dirty="0">
                <a:solidFill>
                  <a:srgbClr val="334155"/>
                </a:solidFill>
                <a:latin typeface="Aptos" pitchFamily="34" charset="0"/>
                <a:ea typeface="Aptos" pitchFamily="34" charset="-122"/>
                <a:cs typeface="Aptos" pitchFamily="34" charset="-120"/>
              </a:rPr>
              <a:t>Road grade changes loaded speed, empty return speed, cycle time and fuel pressure.</a:t>
            </a:r>
            <a:endParaRPr lang="en-US" sz="1250" dirty="0"/>
          </a:p>
          <a:p>
            <a:r>
              <a:rPr lang="en-US" sz="1250" dirty="0">
                <a:solidFill>
                  <a:srgbClr val="334155"/>
                </a:solidFill>
                <a:latin typeface="Aptos" pitchFamily="34" charset="0"/>
                <a:ea typeface="Aptos" pitchFamily="34" charset="-122"/>
                <a:cs typeface="Aptos" pitchFamily="34" charset="-120"/>
              </a:rPr>
              <a:t>A short route is not always the best route if grade or closure risk creates delays.</a:t>
            </a:r>
            <a:endParaRPr lang="en-US" sz="1250" dirty="0"/>
          </a:p>
          <a:p>
            <a:r>
              <a:rPr lang="en-US" sz="1250" dirty="0">
                <a:solidFill>
                  <a:srgbClr val="334155"/>
                </a:solidFill>
                <a:latin typeface="Aptos" pitchFamily="34" charset="0"/>
                <a:ea typeface="Aptos" pitchFamily="34" charset="-122"/>
                <a:cs typeface="Aptos" pitchFamily="34" charset="-120"/>
              </a:rPr>
              <a:t>Risk is not only safety — it can also be production volatility, queue exposure and recovery difficulty.</a:t>
            </a:r>
            <a:endParaRPr lang="en-US" sz="1250" dirty="0"/>
          </a:p>
        </p:txBody>
      </p:sp>
      <p:sp>
        <p:nvSpPr>
          <p:cNvPr id="8" name="Text 5"/>
          <p:cNvSpPr/>
          <p:nvPr/>
        </p:nvSpPr>
        <p:spPr>
          <a:xfrm>
            <a:off x="6274260" y="3767696"/>
            <a:ext cx="2834640" cy="164592"/>
          </a:xfrm>
          <a:prstGeom prst="rect">
            <a:avLst/>
          </a:prstGeom>
          <a:noFill/>
          <a:ln/>
        </p:spPr>
        <p:txBody>
          <a:bodyPr wrap="square" lIns="0" tIns="0" rIns="0" bIns="0" rtlCol="0" anchor="ctr">
            <a:normAutofit/>
          </a:bodyPr>
          <a:lstStyle/>
          <a:p>
            <a:pPr marL="0" indent="0">
              <a:buNone/>
            </a:pPr>
            <a:r>
              <a:rPr lang="en-US" sz="680" b="1" dirty="0">
                <a:solidFill>
                  <a:srgbClr val="EA580C"/>
                </a:solidFill>
                <a:latin typeface="Aptos" pitchFamily="34" charset="0"/>
                <a:ea typeface="Aptos" pitchFamily="34" charset="-122"/>
                <a:cs typeface="Aptos" pitchFamily="34" charset="-120"/>
              </a:rPr>
              <a:t>SIMPLIFIED IMPACT CHAIN</a:t>
            </a:r>
            <a:endParaRPr lang="en-US" sz="680" dirty="0"/>
          </a:p>
        </p:txBody>
      </p:sp>
      <p:sp>
        <p:nvSpPr>
          <p:cNvPr id="9" name="Text 6"/>
          <p:cNvSpPr/>
          <p:nvPr/>
        </p:nvSpPr>
        <p:spPr>
          <a:xfrm>
            <a:off x="6365700" y="4151744"/>
            <a:ext cx="1325880" cy="438912"/>
          </a:xfrm>
          <a:prstGeom prst="rect">
            <a:avLst/>
          </a:prstGeom>
          <a:solidFill>
            <a:srgbClr val="EA580C"/>
          </a:solidFill>
          <a:ln>
            <a:solidFill>
              <a:srgbClr val="EA580C">
                <a:alpha val="0"/>
              </a:srgbClr>
            </a:solidFill>
          </a:ln>
        </p:spPr>
        <p:txBody>
          <a:bodyPr wrap="square" lIns="762" tIns="762" rIns="762" bIns="762"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Higher grade</a:t>
            </a:r>
            <a:endParaRPr lang="en-US" sz="1050" dirty="0"/>
          </a:p>
        </p:txBody>
      </p:sp>
      <p:sp>
        <p:nvSpPr>
          <p:cNvPr id="10" name="Shape 7"/>
          <p:cNvSpPr/>
          <p:nvPr/>
        </p:nvSpPr>
        <p:spPr>
          <a:xfrm>
            <a:off x="7792164" y="4371200"/>
            <a:ext cx="539496" cy="0"/>
          </a:xfrm>
          <a:prstGeom prst="line">
            <a:avLst/>
          </a:prstGeom>
          <a:noFill/>
          <a:ln w="16510">
            <a:solidFill>
              <a:srgbClr val="64748B"/>
            </a:solidFill>
            <a:prstDash val="solid"/>
            <a:headEnd type="none"/>
            <a:tailEnd type="triangle"/>
          </a:ln>
        </p:spPr>
        <p:txBody>
          <a:bodyPr/>
          <a:lstStyle/>
          <a:p>
            <a:endParaRPr lang="en-US"/>
          </a:p>
        </p:txBody>
      </p:sp>
      <p:sp>
        <p:nvSpPr>
          <p:cNvPr id="11" name="Text 8"/>
          <p:cNvSpPr/>
          <p:nvPr/>
        </p:nvSpPr>
        <p:spPr>
          <a:xfrm>
            <a:off x="8450532" y="4151744"/>
            <a:ext cx="1325880" cy="438912"/>
          </a:xfrm>
          <a:prstGeom prst="rect">
            <a:avLst/>
          </a:prstGeom>
          <a:solidFill>
            <a:srgbClr val="DC2626"/>
          </a:solidFill>
          <a:ln>
            <a:solidFill>
              <a:srgbClr val="DC2626">
                <a:alpha val="0"/>
              </a:srgbClr>
            </a:solidFill>
          </a:ln>
        </p:spPr>
        <p:txBody>
          <a:bodyPr wrap="square" lIns="762" tIns="762" rIns="762" bIns="762"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Lower speed</a:t>
            </a:r>
            <a:endParaRPr lang="en-US" sz="1050" dirty="0"/>
          </a:p>
        </p:txBody>
      </p:sp>
      <p:sp>
        <p:nvSpPr>
          <p:cNvPr id="12" name="Shape 9"/>
          <p:cNvSpPr/>
          <p:nvPr/>
        </p:nvSpPr>
        <p:spPr>
          <a:xfrm>
            <a:off x="9876996" y="4371200"/>
            <a:ext cx="539496" cy="0"/>
          </a:xfrm>
          <a:prstGeom prst="line">
            <a:avLst/>
          </a:prstGeom>
          <a:noFill/>
          <a:ln w="16510">
            <a:solidFill>
              <a:srgbClr val="64748B"/>
            </a:solidFill>
            <a:prstDash val="solid"/>
            <a:headEnd type="none"/>
            <a:tailEnd type="triangle"/>
          </a:ln>
        </p:spPr>
        <p:txBody>
          <a:bodyPr/>
          <a:lstStyle/>
          <a:p>
            <a:endParaRPr lang="en-US"/>
          </a:p>
        </p:txBody>
      </p:sp>
      <p:sp>
        <p:nvSpPr>
          <p:cNvPr id="13" name="Text 10"/>
          <p:cNvSpPr/>
          <p:nvPr/>
        </p:nvSpPr>
        <p:spPr>
          <a:xfrm>
            <a:off x="10526220" y="4151744"/>
            <a:ext cx="1325880" cy="438912"/>
          </a:xfrm>
          <a:prstGeom prst="rect">
            <a:avLst/>
          </a:prstGeom>
          <a:solidFill>
            <a:srgbClr val="7C3AED"/>
          </a:solidFill>
          <a:ln>
            <a:solidFill>
              <a:srgbClr val="7C3AED">
                <a:alpha val="0"/>
              </a:srgbClr>
            </a:solidFill>
          </a:ln>
        </p:spPr>
        <p:txBody>
          <a:bodyPr wrap="square" lIns="762" tIns="762" rIns="762" bIns="762"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Longer cycle</a:t>
            </a:r>
            <a:endParaRPr lang="en-US" sz="1050" dirty="0"/>
          </a:p>
        </p:txBody>
      </p:sp>
      <p:sp>
        <p:nvSpPr>
          <p:cNvPr id="14" name="Text 11"/>
          <p:cNvSpPr/>
          <p:nvPr/>
        </p:nvSpPr>
        <p:spPr>
          <a:xfrm>
            <a:off x="6365700" y="4928984"/>
            <a:ext cx="1325880" cy="438912"/>
          </a:xfrm>
          <a:prstGeom prst="rect">
            <a:avLst/>
          </a:prstGeom>
          <a:solidFill>
            <a:srgbClr val="0891B2"/>
          </a:solidFill>
          <a:ln>
            <a:solidFill>
              <a:srgbClr val="0891B2">
                <a:alpha val="0"/>
              </a:srgbClr>
            </a:solidFill>
          </a:ln>
        </p:spPr>
        <p:txBody>
          <a:bodyPr wrap="square" lIns="762" tIns="762" rIns="762" bIns="762"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More queues</a:t>
            </a:r>
            <a:endParaRPr lang="en-US" sz="1050" dirty="0"/>
          </a:p>
        </p:txBody>
      </p:sp>
      <p:sp>
        <p:nvSpPr>
          <p:cNvPr id="15" name="Shape 12"/>
          <p:cNvSpPr/>
          <p:nvPr/>
        </p:nvSpPr>
        <p:spPr>
          <a:xfrm>
            <a:off x="7792164" y="5148440"/>
            <a:ext cx="539496" cy="0"/>
          </a:xfrm>
          <a:prstGeom prst="line">
            <a:avLst/>
          </a:prstGeom>
          <a:noFill/>
          <a:ln w="16510">
            <a:solidFill>
              <a:srgbClr val="64748B"/>
            </a:solidFill>
            <a:prstDash val="solid"/>
            <a:headEnd type="none"/>
            <a:tailEnd type="triangle"/>
          </a:ln>
        </p:spPr>
        <p:txBody>
          <a:bodyPr/>
          <a:lstStyle/>
          <a:p>
            <a:endParaRPr lang="en-US"/>
          </a:p>
        </p:txBody>
      </p:sp>
      <p:sp>
        <p:nvSpPr>
          <p:cNvPr id="16" name="Text 13"/>
          <p:cNvSpPr/>
          <p:nvPr/>
        </p:nvSpPr>
        <p:spPr>
          <a:xfrm>
            <a:off x="8450532" y="4928984"/>
            <a:ext cx="1325880" cy="438912"/>
          </a:xfrm>
          <a:prstGeom prst="rect">
            <a:avLst/>
          </a:prstGeom>
          <a:solidFill>
            <a:srgbClr val="16A34A"/>
          </a:solidFill>
          <a:ln>
            <a:solidFill>
              <a:srgbClr val="16A34A">
                <a:alpha val="0"/>
              </a:srgbClr>
            </a:solidFill>
          </a:ln>
        </p:spPr>
        <p:txBody>
          <a:bodyPr wrap="square" lIns="762" tIns="762" rIns="762" bIns="762"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Lower tph</a:t>
            </a:r>
            <a:endParaRPr lang="en-US" sz="1050" dirty="0"/>
          </a:p>
        </p:txBody>
      </p:sp>
      <p:sp>
        <p:nvSpPr>
          <p:cNvPr id="17" name="Shape 14"/>
          <p:cNvSpPr/>
          <p:nvPr/>
        </p:nvSpPr>
        <p:spPr>
          <a:xfrm>
            <a:off x="9876996" y="5148440"/>
            <a:ext cx="539496" cy="0"/>
          </a:xfrm>
          <a:prstGeom prst="line">
            <a:avLst/>
          </a:prstGeom>
          <a:noFill/>
          <a:ln w="16510">
            <a:solidFill>
              <a:srgbClr val="64748B"/>
            </a:solidFill>
            <a:prstDash val="solid"/>
            <a:headEnd type="none"/>
            <a:tailEnd type="triangle"/>
          </a:ln>
        </p:spPr>
        <p:txBody>
          <a:bodyPr/>
          <a:lstStyle/>
          <a:p>
            <a:endParaRPr lang="en-US"/>
          </a:p>
        </p:txBody>
      </p:sp>
      <p:sp>
        <p:nvSpPr>
          <p:cNvPr id="18" name="Text 15"/>
          <p:cNvSpPr/>
          <p:nvPr/>
        </p:nvSpPr>
        <p:spPr>
          <a:xfrm>
            <a:off x="10526220" y="4928984"/>
            <a:ext cx="1325880" cy="438912"/>
          </a:xfrm>
          <a:prstGeom prst="rect">
            <a:avLst/>
          </a:prstGeom>
          <a:solidFill>
            <a:srgbClr val="2563EB"/>
          </a:solidFill>
          <a:ln>
            <a:solidFill>
              <a:srgbClr val="2563EB">
                <a:alpha val="0"/>
              </a:srgbClr>
            </a:solidFill>
          </a:ln>
        </p:spPr>
        <p:txBody>
          <a:bodyPr wrap="square" lIns="762" tIns="762" rIns="762" bIns="762"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More trucks?</a:t>
            </a:r>
            <a:endParaRPr lang="en-US" sz="1050" dirty="0"/>
          </a:p>
        </p:txBody>
      </p:sp>
      <p:sp>
        <p:nvSpPr>
          <p:cNvPr id="25" name="Slide Number Placeholder 0"/>
          <p:cNvSpPr>
            <a:spLocks noGrp="1"/>
          </p:cNvSpPr>
          <p:nvPr>
            <p:ph type="sldNum" sz="quarter" idx="4294967295"/>
          </p:nvPr>
        </p:nvSpPr>
        <p:spPr>
          <a:xfrm>
            <a:off x="11384280" y="6528816"/>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lang="en-US" b="0"/>
              <a:t>7</a:t>
            </a:fld>
            <a:endParaRPr lang="en-US"/>
          </a:p>
        </p:txBody>
      </p:sp>
      <p:pic>
        <p:nvPicPr>
          <p:cNvPr id="20" name="Picture 19">
            <a:extLst>
              <a:ext uri="{FF2B5EF4-FFF2-40B4-BE49-F238E27FC236}">
                <a16:creationId xmlns:a16="http://schemas.microsoft.com/office/drawing/2014/main" id="{2E1AC79D-B704-EAD8-EE52-B42E8A8BB947}"/>
              </a:ext>
            </a:extLst>
          </p:cNvPr>
          <p:cNvPicPr>
            <a:picLocks noChangeAspect="1"/>
          </p:cNvPicPr>
          <p:nvPr/>
        </p:nvPicPr>
        <p:blipFill>
          <a:blip r:embed="rId3"/>
          <a:stretch>
            <a:fillRect/>
          </a:stretch>
        </p:blipFill>
        <p:spPr>
          <a:xfrm>
            <a:off x="375616" y="4553192"/>
            <a:ext cx="5531206" cy="1688888"/>
          </a:xfrm>
          <a:prstGeom prst="rect">
            <a:avLst/>
          </a:prstGeom>
        </p:spPr>
      </p:pic>
      <p:pic>
        <p:nvPicPr>
          <p:cNvPr id="22" name="Picture 21">
            <a:extLst>
              <a:ext uri="{FF2B5EF4-FFF2-40B4-BE49-F238E27FC236}">
                <a16:creationId xmlns:a16="http://schemas.microsoft.com/office/drawing/2014/main" id="{9DD7CF2B-AF74-6B44-440C-30F8A69FF7DB}"/>
              </a:ext>
            </a:extLst>
          </p:cNvPr>
          <p:cNvPicPr>
            <a:picLocks noChangeAspect="1"/>
          </p:cNvPicPr>
          <p:nvPr/>
        </p:nvPicPr>
        <p:blipFill>
          <a:blip r:embed="rId4"/>
          <a:srcRect l="250"/>
          <a:stretch>
            <a:fillRect/>
          </a:stretch>
        </p:blipFill>
        <p:spPr>
          <a:xfrm>
            <a:off x="357144" y="1280160"/>
            <a:ext cx="5600658" cy="299871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274320"/>
            <a:ext cx="4206240" cy="201168"/>
          </a:xfrm>
          <a:prstGeom prst="rect">
            <a:avLst/>
          </a:prstGeom>
          <a:noFill/>
          <a:ln/>
        </p:spPr>
        <p:txBody>
          <a:bodyPr wrap="square" lIns="0" tIns="0" rIns="0" bIns="0" rtlCol="0" anchor="ctr"/>
          <a:lstStyle/>
          <a:p>
            <a:pPr marL="0" indent="0">
              <a:buNone/>
            </a:pPr>
            <a:r>
              <a:rPr lang="en-US" sz="850" b="1" dirty="0">
                <a:solidFill>
                  <a:srgbClr val="2563EB"/>
                </a:solidFill>
                <a:latin typeface="Aptos" pitchFamily="34" charset="0"/>
                <a:ea typeface="Aptos" pitchFamily="34" charset="-122"/>
                <a:cs typeface="Aptos" pitchFamily="34" charset="-120"/>
              </a:rPr>
              <a:t>Diagnostics</a:t>
            </a:r>
            <a:endParaRPr lang="en-US" sz="850" dirty="0"/>
          </a:p>
        </p:txBody>
      </p:sp>
      <p:sp>
        <p:nvSpPr>
          <p:cNvPr id="3" name="Text 1"/>
          <p:cNvSpPr/>
          <p:nvPr/>
        </p:nvSpPr>
        <p:spPr>
          <a:xfrm>
            <a:off x="566928" y="530352"/>
            <a:ext cx="7680960" cy="475488"/>
          </a:xfrm>
          <a:prstGeom prst="rect">
            <a:avLst/>
          </a:prstGeom>
          <a:noFill/>
          <a:ln/>
        </p:spPr>
        <p:txBody>
          <a:bodyPr wrap="square" lIns="0" tIns="0" rIns="0" bIns="0" rtlCol="0" anchor="ctr"/>
          <a:lstStyle/>
          <a:p>
            <a:pPr marL="0" indent="0">
              <a:buNone/>
            </a:pPr>
            <a:r>
              <a:rPr lang="en-US" sz="2200" b="1" dirty="0">
                <a:solidFill>
                  <a:srgbClr val="0F172A"/>
                </a:solidFill>
                <a:latin typeface="Aptos Display" pitchFamily="34" charset="0"/>
                <a:ea typeface="Aptos Display" pitchFamily="34" charset="-122"/>
                <a:cs typeface="Aptos Display" pitchFamily="34" charset="-120"/>
              </a:rPr>
              <a:t>Bottleneck risk: where the plan loses throughput</a:t>
            </a:r>
            <a:endParaRPr lang="en-US" sz="2200" dirty="0"/>
          </a:p>
        </p:txBody>
      </p:sp>
      <p:sp>
        <p:nvSpPr>
          <p:cNvPr id="4" name="Shape 2"/>
          <p:cNvSpPr/>
          <p:nvPr/>
        </p:nvSpPr>
        <p:spPr>
          <a:xfrm>
            <a:off x="566928" y="1078992"/>
            <a:ext cx="11064240" cy="0"/>
          </a:xfrm>
          <a:prstGeom prst="line">
            <a:avLst/>
          </a:prstGeom>
          <a:noFill/>
          <a:ln w="12700">
            <a:solidFill>
              <a:srgbClr val="E2E8F0"/>
            </a:solidFill>
            <a:prstDash val="solid"/>
          </a:ln>
        </p:spPr>
        <p:txBody>
          <a:bodyPr/>
          <a:lstStyle/>
          <a:p>
            <a:endParaRPr lang="en-US"/>
          </a:p>
        </p:txBody>
      </p:sp>
      <p:sp>
        <p:nvSpPr>
          <p:cNvPr id="5" name="Text 3"/>
          <p:cNvSpPr/>
          <p:nvPr/>
        </p:nvSpPr>
        <p:spPr>
          <a:xfrm>
            <a:off x="685800" y="1481328"/>
            <a:ext cx="2606040" cy="749808"/>
          </a:xfrm>
          <a:prstGeom prst="rect">
            <a:avLst/>
          </a:prstGeom>
          <a:solidFill>
            <a:srgbClr val="FFFFFF"/>
          </a:solidFill>
          <a:ln w="13970">
            <a:solidFill>
              <a:srgbClr val="E5E7EB"/>
            </a:solidFill>
          </a:ln>
        </p:spPr>
        <p:txBody>
          <a:bodyPr wrap="square" lIns="91440" tIns="1651" rIns="1651" bIns="1651" rtlCol="0" anchor="ctr">
            <a:normAutofit/>
          </a:bodyPr>
          <a:lstStyle/>
          <a:p>
            <a:pPr marL="0" indent="0">
              <a:buNone/>
            </a:pPr>
            <a:r>
              <a:rPr lang="en-US" sz="1050" b="1" dirty="0">
                <a:solidFill>
                  <a:srgbClr val="334155"/>
                </a:solidFill>
                <a:latin typeface="Aptos" pitchFamily="34" charset="0"/>
                <a:ea typeface="Aptos" pitchFamily="34" charset="-122"/>
                <a:cs typeface="Aptos" pitchFamily="34" charset="-120"/>
              </a:rPr>
              <a:t>Truck bottleneck</a:t>
            </a:r>
            <a:endParaRPr lang="en-US" sz="1050" b="1" dirty="0"/>
          </a:p>
          <a:p>
            <a:pPr marL="0" indent="0">
              <a:buNone/>
            </a:pPr>
            <a:r>
              <a:rPr lang="en-US" sz="1050" dirty="0">
                <a:solidFill>
                  <a:srgbClr val="334155"/>
                </a:solidFill>
                <a:latin typeface="Aptos" pitchFamily="34" charset="0"/>
                <a:ea typeface="Aptos" pitchFamily="34" charset="-122"/>
                <a:cs typeface="Aptos" pitchFamily="34" charset="-120"/>
              </a:rPr>
              <a:t>Not enough available payload/cycles to meet jobs within shift time.</a:t>
            </a:r>
            <a:endParaRPr lang="en-US" sz="1050" dirty="0"/>
          </a:p>
        </p:txBody>
      </p:sp>
      <p:sp>
        <p:nvSpPr>
          <p:cNvPr id="6" name="Shape 4"/>
          <p:cNvSpPr/>
          <p:nvPr/>
        </p:nvSpPr>
        <p:spPr>
          <a:xfrm>
            <a:off x="667328" y="1481328"/>
            <a:ext cx="73152" cy="749808"/>
          </a:xfrm>
          <a:prstGeom prst="rect">
            <a:avLst/>
          </a:prstGeom>
          <a:solidFill>
            <a:srgbClr val="2563EB"/>
          </a:solidFill>
          <a:ln w="12700">
            <a:solidFill>
              <a:srgbClr val="2563EB">
                <a:alpha val="0"/>
              </a:srgbClr>
            </a:solidFill>
            <a:prstDash val="solid"/>
          </a:ln>
        </p:spPr>
        <p:txBody>
          <a:bodyPr/>
          <a:lstStyle/>
          <a:p>
            <a:endParaRPr lang="en-US"/>
          </a:p>
        </p:txBody>
      </p:sp>
      <p:sp>
        <p:nvSpPr>
          <p:cNvPr id="7" name="Text 5"/>
          <p:cNvSpPr/>
          <p:nvPr/>
        </p:nvSpPr>
        <p:spPr>
          <a:xfrm>
            <a:off x="3520440" y="1481328"/>
            <a:ext cx="2606040" cy="749808"/>
          </a:xfrm>
          <a:prstGeom prst="rect">
            <a:avLst/>
          </a:prstGeom>
          <a:solidFill>
            <a:srgbClr val="FFFFFF"/>
          </a:solidFill>
          <a:ln w="13970">
            <a:solidFill>
              <a:srgbClr val="E5E7EB"/>
            </a:solidFill>
          </a:ln>
        </p:spPr>
        <p:txBody>
          <a:bodyPr wrap="square" lIns="91440" tIns="1651" rIns="1651" bIns="1651" rtlCol="0" anchor="ctr">
            <a:normAutofit/>
          </a:bodyPr>
          <a:lstStyle/>
          <a:p>
            <a:pPr marL="0" indent="0">
              <a:buNone/>
            </a:pPr>
            <a:r>
              <a:rPr lang="en-US" sz="1050" b="1" dirty="0">
                <a:solidFill>
                  <a:srgbClr val="334155"/>
                </a:solidFill>
                <a:latin typeface="Aptos" pitchFamily="34" charset="0"/>
                <a:ea typeface="Aptos" pitchFamily="34" charset="-122"/>
                <a:cs typeface="Aptos" pitchFamily="34" charset="-120"/>
              </a:rPr>
              <a:t>Shovel bottleneck</a:t>
            </a:r>
            <a:endParaRPr lang="en-US" sz="1050" b="1" dirty="0"/>
          </a:p>
          <a:p>
            <a:pPr marL="0" indent="0">
              <a:buNone/>
            </a:pPr>
            <a:r>
              <a:rPr lang="en-US" sz="1050" dirty="0">
                <a:solidFill>
                  <a:srgbClr val="334155"/>
                </a:solidFill>
                <a:latin typeface="Aptos" pitchFamily="34" charset="0"/>
                <a:ea typeface="Aptos" pitchFamily="34" charset="-122"/>
                <a:cs typeface="Aptos" pitchFamily="34" charset="-120"/>
              </a:rPr>
              <a:t>Loading time, availability or assignment limits reduce completed cycles.</a:t>
            </a:r>
            <a:endParaRPr lang="en-US" sz="1050" dirty="0"/>
          </a:p>
        </p:txBody>
      </p:sp>
      <p:sp>
        <p:nvSpPr>
          <p:cNvPr id="8" name="Shape 6"/>
          <p:cNvSpPr/>
          <p:nvPr/>
        </p:nvSpPr>
        <p:spPr>
          <a:xfrm>
            <a:off x="3501968" y="1481328"/>
            <a:ext cx="73152" cy="749808"/>
          </a:xfrm>
          <a:prstGeom prst="rect">
            <a:avLst/>
          </a:prstGeom>
          <a:solidFill>
            <a:srgbClr val="EA580C"/>
          </a:solidFill>
          <a:ln w="12700">
            <a:solidFill>
              <a:srgbClr val="EA580C">
                <a:alpha val="0"/>
              </a:srgbClr>
            </a:solidFill>
            <a:prstDash val="solid"/>
          </a:ln>
        </p:spPr>
        <p:txBody>
          <a:bodyPr/>
          <a:lstStyle/>
          <a:p>
            <a:endParaRPr lang="en-US"/>
          </a:p>
        </p:txBody>
      </p:sp>
      <p:sp>
        <p:nvSpPr>
          <p:cNvPr id="9" name="Text 7"/>
          <p:cNvSpPr/>
          <p:nvPr/>
        </p:nvSpPr>
        <p:spPr>
          <a:xfrm>
            <a:off x="6355080" y="1481328"/>
            <a:ext cx="2606040" cy="749808"/>
          </a:xfrm>
          <a:prstGeom prst="rect">
            <a:avLst/>
          </a:prstGeom>
          <a:solidFill>
            <a:srgbClr val="FFFFFF"/>
          </a:solidFill>
          <a:ln w="13970">
            <a:solidFill>
              <a:srgbClr val="E5E7EB"/>
            </a:solidFill>
          </a:ln>
        </p:spPr>
        <p:txBody>
          <a:bodyPr wrap="square" lIns="91440" tIns="1651" rIns="1651" bIns="1651" rtlCol="0" anchor="ctr">
            <a:normAutofit/>
          </a:bodyPr>
          <a:lstStyle/>
          <a:p>
            <a:pPr marL="0" indent="0">
              <a:buNone/>
            </a:pPr>
            <a:r>
              <a:rPr lang="en-US" sz="1050" b="1" dirty="0">
                <a:solidFill>
                  <a:srgbClr val="334155"/>
                </a:solidFill>
                <a:latin typeface="Aptos" pitchFamily="34" charset="0"/>
                <a:ea typeface="Aptos" pitchFamily="34" charset="-122"/>
                <a:cs typeface="Aptos" pitchFamily="34" charset="-120"/>
              </a:rPr>
              <a:t>Road bottleneck</a:t>
            </a:r>
            <a:endParaRPr lang="en-US" sz="1050" b="1" dirty="0"/>
          </a:p>
          <a:p>
            <a:pPr marL="0" indent="0">
              <a:buNone/>
            </a:pPr>
            <a:r>
              <a:rPr lang="en-US" sz="1050" dirty="0">
                <a:solidFill>
                  <a:srgbClr val="334155"/>
                </a:solidFill>
                <a:latin typeface="Aptos" pitchFamily="34" charset="0"/>
                <a:ea typeface="Aptos" pitchFamily="34" charset="-122"/>
                <a:cs typeface="Aptos" pitchFamily="34" charset="-120"/>
              </a:rPr>
              <a:t>Grade, closure, speed or congestion creates network delays.</a:t>
            </a:r>
            <a:endParaRPr lang="en-US" sz="1050" dirty="0"/>
          </a:p>
        </p:txBody>
      </p:sp>
      <p:sp>
        <p:nvSpPr>
          <p:cNvPr id="10" name="Shape 8"/>
          <p:cNvSpPr/>
          <p:nvPr/>
        </p:nvSpPr>
        <p:spPr>
          <a:xfrm>
            <a:off x="6336608" y="1481328"/>
            <a:ext cx="73152" cy="749808"/>
          </a:xfrm>
          <a:prstGeom prst="rect">
            <a:avLst/>
          </a:prstGeom>
          <a:solidFill>
            <a:srgbClr val="0891B2"/>
          </a:solidFill>
          <a:ln w="12700">
            <a:solidFill>
              <a:srgbClr val="0891B2">
                <a:alpha val="0"/>
              </a:srgbClr>
            </a:solidFill>
            <a:prstDash val="solid"/>
          </a:ln>
        </p:spPr>
        <p:txBody>
          <a:bodyPr/>
          <a:lstStyle/>
          <a:p>
            <a:endParaRPr lang="en-US"/>
          </a:p>
        </p:txBody>
      </p:sp>
      <p:sp>
        <p:nvSpPr>
          <p:cNvPr id="11" name="Text 9"/>
          <p:cNvSpPr/>
          <p:nvPr/>
        </p:nvSpPr>
        <p:spPr>
          <a:xfrm>
            <a:off x="9189720" y="1481328"/>
            <a:ext cx="2331720" cy="749808"/>
          </a:xfrm>
          <a:prstGeom prst="rect">
            <a:avLst/>
          </a:prstGeom>
          <a:solidFill>
            <a:srgbClr val="FFFFFF"/>
          </a:solidFill>
          <a:ln w="13970">
            <a:solidFill>
              <a:srgbClr val="E5E7EB"/>
            </a:solidFill>
          </a:ln>
        </p:spPr>
        <p:txBody>
          <a:bodyPr wrap="square" lIns="91440" tIns="1651" rIns="1651" bIns="1651" rtlCol="0" anchor="ctr">
            <a:normAutofit/>
          </a:bodyPr>
          <a:lstStyle/>
          <a:p>
            <a:pPr marL="0" indent="0">
              <a:buNone/>
            </a:pPr>
            <a:r>
              <a:rPr lang="en-US" sz="1050" b="1" dirty="0">
                <a:solidFill>
                  <a:srgbClr val="334155"/>
                </a:solidFill>
                <a:latin typeface="Aptos" pitchFamily="34" charset="0"/>
                <a:ea typeface="Aptos" pitchFamily="34" charset="-122"/>
                <a:cs typeface="Aptos" pitchFamily="34" charset="-120"/>
              </a:rPr>
              <a:t>Destination bottleneck</a:t>
            </a:r>
            <a:endParaRPr lang="en-US" sz="1050" b="1" dirty="0"/>
          </a:p>
          <a:p>
            <a:pPr marL="0" indent="0">
              <a:buNone/>
            </a:pPr>
            <a:r>
              <a:rPr lang="en-US" sz="1050" dirty="0">
                <a:solidFill>
                  <a:srgbClr val="334155"/>
                </a:solidFill>
                <a:latin typeface="Aptos" pitchFamily="34" charset="0"/>
                <a:ea typeface="Aptos" pitchFamily="34" charset="-122"/>
                <a:cs typeface="Aptos" pitchFamily="34" charset="-120"/>
              </a:rPr>
              <a:t>Crusher, dump or stockpile service time limits truck unloading.</a:t>
            </a:r>
            <a:endParaRPr lang="en-US" sz="1050" dirty="0"/>
          </a:p>
        </p:txBody>
      </p:sp>
      <p:sp>
        <p:nvSpPr>
          <p:cNvPr id="12" name="Shape 10"/>
          <p:cNvSpPr/>
          <p:nvPr/>
        </p:nvSpPr>
        <p:spPr>
          <a:xfrm>
            <a:off x="9171248" y="1481328"/>
            <a:ext cx="73152" cy="749808"/>
          </a:xfrm>
          <a:prstGeom prst="rect">
            <a:avLst/>
          </a:prstGeom>
          <a:solidFill>
            <a:srgbClr val="16A34A"/>
          </a:solidFill>
          <a:ln w="12700">
            <a:solidFill>
              <a:srgbClr val="16A34A">
                <a:alpha val="0"/>
              </a:srgbClr>
            </a:solidFill>
            <a:prstDash val="solid"/>
          </a:ln>
        </p:spPr>
        <p:txBody>
          <a:bodyPr/>
          <a:lstStyle/>
          <a:p>
            <a:endParaRPr lang="en-US"/>
          </a:p>
        </p:txBody>
      </p:sp>
      <p:sp>
        <p:nvSpPr>
          <p:cNvPr id="13" name="Text 11"/>
          <p:cNvSpPr/>
          <p:nvPr/>
        </p:nvSpPr>
        <p:spPr>
          <a:xfrm>
            <a:off x="685800" y="2788920"/>
            <a:ext cx="3108960" cy="164592"/>
          </a:xfrm>
          <a:prstGeom prst="rect">
            <a:avLst/>
          </a:prstGeom>
          <a:noFill/>
          <a:ln/>
        </p:spPr>
        <p:txBody>
          <a:bodyPr wrap="square" lIns="0" tIns="0" rIns="0" bIns="0" rtlCol="0" anchor="ctr">
            <a:normAutofit/>
          </a:bodyPr>
          <a:lstStyle/>
          <a:p>
            <a:pPr marL="0" indent="0">
              <a:buNone/>
            </a:pPr>
            <a:r>
              <a:rPr lang="en-US" sz="680" b="1" dirty="0">
                <a:solidFill>
                  <a:srgbClr val="7C3AED"/>
                </a:solidFill>
                <a:latin typeface="Aptos" pitchFamily="34" charset="0"/>
                <a:ea typeface="Aptos" pitchFamily="34" charset="-122"/>
                <a:cs typeface="Aptos" pitchFamily="34" charset="-120"/>
              </a:rPr>
              <a:t>HOW I LEARNED TO READ RESULTS</a:t>
            </a:r>
            <a:endParaRPr lang="en-US" sz="680" dirty="0"/>
          </a:p>
        </p:txBody>
      </p:sp>
      <p:sp>
        <p:nvSpPr>
          <p:cNvPr id="14" name="Text 12"/>
          <p:cNvSpPr/>
          <p:nvPr/>
        </p:nvSpPr>
        <p:spPr>
          <a:xfrm>
            <a:off x="749808" y="3127248"/>
            <a:ext cx="5440680" cy="2148840"/>
          </a:xfrm>
          <a:prstGeom prst="rect">
            <a:avLst/>
          </a:prstGeom>
          <a:noFill/>
          <a:ln/>
        </p:spPr>
        <p:txBody>
          <a:bodyPr wrap="square" lIns="762" tIns="762" rIns="762" bIns="762" rtlCol="0" anchor="ctr">
            <a:normAutofit/>
          </a:bodyPr>
          <a:lstStyle/>
          <a:p>
            <a:r>
              <a:rPr lang="en-US" sz="1220" dirty="0">
                <a:solidFill>
                  <a:srgbClr val="334155"/>
                </a:solidFill>
                <a:latin typeface="Aptos" pitchFamily="34" charset="0"/>
                <a:ea typeface="Aptos" pitchFamily="34" charset="-122"/>
                <a:cs typeface="Aptos" pitchFamily="34" charset="-120"/>
              </a:rPr>
              <a:t>If every truck is busy but target is missed → fleet or route capacity problem.</a:t>
            </a:r>
            <a:endParaRPr lang="en-US" sz="1220" dirty="0"/>
          </a:p>
          <a:p>
            <a:r>
              <a:rPr lang="en-US" sz="1220" dirty="0">
                <a:solidFill>
                  <a:srgbClr val="334155"/>
                </a:solidFill>
                <a:latin typeface="Aptos" pitchFamily="34" charset="0"/>
                <a:ea typeface="Aptos" pitchFamily="34" charset="-122"/>
                <a:cs typeface="Aptos" pitchFamily="34" charset="-120"/>
              </a:rPr>
              <a:t>If trucks are queuing at loading → shovel loading bottleneck.</a:t>
            </a:r>
            <a:endParaRPr lang="en-US" sz="1220" dirty="0"/>
          </a:p>
          <a:p>
            <a:r>
              <a:rPr lang="en-US" sz="1220" dirty="0">
                <a:solidFill>
                  <a:srgbClr val="334155"/>
                </a:solidFill>
                <a:latin typeface="Aptos" pitchFamily="34" charset="0"/>
                <a:ea typeface="Aptos" pitchFamily="34" charset="-122"/>
                <a:cs typeface="Aptos" pitchFamily="34" charset="-120"/>
              </a:rPr>
              <a:t>If trucks are queuing at crusher/dump → destination service bottleneck.</a:t>
            </a:r>
            <a:endParaRPr lang="en-US" sz="1220" dirty="0"/>
          </a:p>
          <a:p>
            <a:r>
              <a:rPr lang="en-US" sz="1220" dirty="0">
                <a:solidFill>
                  <a:srgbClr val="334155"/>
                </a:solidFill>
                <a:latin typeface="Aptos" pitchFamily="34" charset="0"/>
                <a:ea typeface="Aptos" pitchFamily="34" charset="-122"/>
                <a:cs typeface="Aptos" pitchFamily="34" charset="-120"/>
              </a:rPr>
              <a:t>If target misses only during disruptions → resilience and contingency planning problem.</a:t>
            </a:r>
            <a:endParaRPr lang="en-US" sz="1220" dirty="0"/>
          </a:p>
        </p:txBody>
      </p:sp>
      <p:sp>
        <p:nvSpPr>
          <p:cNvPr id="15" name="Text 13"/>
          <p:cNvSpPr/>
          <p:nvPr/>
        </p:nvSpPr>
        <p:spPr>
          <a:xfrm>
            <a:off x="6492240" y="2788920"/>
            <a:ext cx="2011680" cy="164592"/>
          </a:xfrm>
          <a:prstGeom prst="rect">
            <a:avLst/>
          </a:prstGeom>
          <a:noFill/>
          <a:ln/>
        </p:spPr>
        <p:txBody>
          <a:bodyPr wrap="square" lIns="0" tIns="0" rIns="0" bIns="0" rtlCol="0" anchor="ctr">
            <a:normAutofit/>
          </a:bodyPr>
          <a:lstStyle/>
          <a:p>
            <a:pPr marL="0" indent="0">
              <a:buNone/>
            </a:pPr>
            <a:r>
              <a:rPr lang="en-US" sz="680" b="1" dirty="0">
                <a:solidFill>
                  <a:srgbClr val="16A34A"/>
                </a:solidFill>
                <a:latin typeface="Aptos" pitchFamily="34" charset="0"/>
                <a:ea typeface="Aptos" pitchFamily="34" charset="-122"/>
                <a:cs typeface="Aptos" pitchFamily="34" charset="-120"/>
              </a:rPr>
              <a:t>DASHBOARD LOGIC</a:t>
            </a:r>
            <a:endParaRPr lang="en-US" sz="680" dirty="0"/>
          </a:p>
        </p:txBody>
      </p:sp>
      <p:sp>
        <p:nvSpPr>
          <p:cNvPr id="16" name="Text 14"/>
          <p:cNvSpPr/>
          <p:nvPr/>
        </p:nvSpPr>
        <p:spPr>
          <a:xfrm>
            <a:off x="6583680" y="3154680"/>
            <a:ext cx="1691640" cy="685800"/>
          </a:xfrm>
          <a:prstGeom prst="rect">
            <a:avLst/>
          </a:prstGeom>
          <a:solidFill>
            <a:srgbClr val="F8FAFC"/>
          </a:solidFill>
          <a:ln w="10160">
            <a:solidFill>
              <a:srgbClr val="E2E8F0"/>
            </a:solidFill>
          </a:ln>
        </p:spPr>
        <p:txBody>
          <a:bodyPr wrap="square" lIns="91440" tIns="1016" rIns="1016" bIns="1016" rtlCol="0" anchor="ctr">
            <a:noAutofit/>
          </a:bodyPr>
          <a:lstStyle/>
          <a:p>
            <a:pPr marL="0" indent="0">
              <a:buNone/>
            </a:pPr>
            <a:r>
              <a:rPr lang="en-US" sz="1300" b="1" dirty="0">
                <a:solidFill>
                  <a:srgbClr val="2563EB"/>
                </a:solidFill>
                <a:latin typeface="Aptos Display" pitchFamily="34" charset="0"/>
                <a:ea typeface="Aptos Display" pitchFamily="34" charset="-122"/>
                <a:cs typeface="Aptos Display" pitchFamily="34" charset="-120"/>
              </a:rPr>
              <a:t>Utilization</a:t>
            </a:r>
            <a:endParaRPr lang="en-US" sz="1300" dirty="0"/>
          </a:p>
          <a:p>
            <a:pPr marL="0" indent="0">
              <a:buNone/>
            </a:pPr>
            <a:r>
              <a:rPr lang="en-US" sz="1300" b="1" dirty="0">
                <a:solidFill>
                  <a:srgbClr val="2563EB"/>
                </a:solidFill>
                <a:latin typeface="Aptos Display" pitchFamily="34" charset="0"/>
                <a:ea typeface="Aptos Display" pitchFamily="34" charset="-122"/>
                <a:cs typeface="Aptos Display" pitchFamily="34" charset="-120"/>
              </a:rPr>
              <a:t>asset working intensity</a:t>
            </a:r>
            <a:endParaRPr lang="en-US" sz="1300" dirty="0"/>
          </a:p>
        </p:txBody>
      </p:sp>
      <p:sp>
        <p:nvSpPr>
          <p:cNvPr id="17" name="Text 15"/>
          <p:cNvSpPr/>
          <p:nvPr/>
        </p:nvSpPr>
        <p:spPr>
          <a:xfrm>
            <a:off x="8458200" y="3154680"/>
            <a:ext cx="1691640" cy="685800"/>
          </a:xfrm>
          <a:prstGeom prst="rect">
            <a:avLst/>
          </a:prstGeom>
          <a:solidFill>
            <a:srgbClr val="F8FAFC"/>
          </a:solidFill>
          <a:ln w="10160">
            <a:solidFill>
              <a:srgbClr val="E2E8F0"/>
            </a:solidFill>
          </a:ln>
        </p:spPr>
        <p:txBody>
          <a:bodyPr wrap="square" lIns="91440" tIns="1016" rIns="1016" bIns="1016" rtlCol="0" anchor="ctr">
            <a:normAutofit/>
          </a:bodyPr>
          <a:lstStyle/>
          <a:p>
            <a:pPr marL="0" indent="0">
              <a:buNone/>
            </a:pPr>
            <a:r>
              <a:rPr lang="en-US" sz="1300" b="1" dirty="0">
                <a:solidFill>
                  <a:srgbClr val="EA580C"/>
                </a:solidFill>
                <a:latin typeface="Aptos Display" pitchFamily="34" charset="0"/>
                <a:ea typeface="Aptos Display" pitchFamily="34" charset="-122"/>
                <a:cs typeface="Aptos Display" pitchFamily="34" charset="-120"/>
              </a:rPr>
              <a:t>Queue time</a:t>
            </a:r>
            <a:endParaRPr lang="en-US" sz="1300" dirty="0"/>
          </a:p>
          <a:p>
            <a:pPr marL="0" indent="0">
              <a:buNone/>
            </a:pPr>
            <a:r>
              <a:rPr lang="en-US" sz="1300" b="1" dirty="0">
                <a:solidFill>
                  <a:srgbClr val="EA580C"/>
                </a:solidFill>
                <a:latin typeface="Aptos Display" pitchFamily="34" charset="0"/>
                <a:ea typeface="Aptos Display" pitchFamily="34" charset="-122"/>
                <a:cs typeface="Aptos Display" pitchFamily="34" charset="-120"/>
              </a:rPr>
              <a:t>lost time at nodes</a:t>
            </a:r>
            <a:endParaRPr lang="en-US" sz="1300" dirty="0"/>
          </a:p>
        </p:txBody>
      </p:sp>
      <p:sp>
        <p:nvSpPr>
          <p:cNvPr id="18" name="Text 16"/>
          <p:cNvSpPr/>
          <p:nvPr/>
        </p:nvSpPr>
        <p:spPr>
          <a:xfrm>
            <a:off x="10332720" y="3154680"/>
            <a:ext cx="1298448" cy="685800"/>
          </a:xfrm>
          <a:prstGeom prst="rect">
            <a:avLst/>
          </a:prstGeom>
          <a:solidFill>
            <a:srgbClr val="F8FAFC"/>
          </a:solidFill>
          <a:ln w="10160">
            <a:solidFill>
              <a:srgbClr val="E2E8F0"/>
            </a:solidFill>
          </a:ln>
        </p:spPr>
        <p:txBody>
          <a:bodyPr wrap="square" lIns="91440" tIns="1016" rIns="1016" bIns="1016" rtlCol="0" anchor="ctr">
            <a:noAutofit/>
          </a:bodyPr>
          <a:lstStyle/>
          <a:p>
            <a:pPr marL="0" indent="0">
              <a:buNone/>
            </a:pPr>
            <a:r>
              <a:rPr lang="en-US" sz="1300" b="1" dirty="0">
                <a:solidFill>
                  <a:srgbClr val="16A34A"/>
                </a:solidFill>
                <a:latin typeface="Aptos Display" pitchFamily="34" charset="0"/>
                <a:ea typeface="Aptos Display" pitchFamily="34" charset="-122"/>
                <a:cs typeface="Aptos Display" pitchFamily="34" charset="-120"/>
              </a:rPr>
              <a:t>Attainment</a:t>
            </a:r>
            <a:endParaRPr lang="en-US" sz="1300" dirty="0"/>
          </a:p>
          <a:p>
            <a:pPr marL="0" indent="0">
              <a:buNone/>
            </a:pPr>
            <a:r>
              <a:rPr lang="en-US" sz="1300" b="1" dirty="0">
                <a:solidFill>
                  <a:srgbClr val="16A34A"/>
                </a:solidFill>
                <a:latin typeface="Aptos Display" pitchFamily="34" charset="0"/>
                <a:ea typeface="Aptos Display" pitchFamily="34" charset="-122"/>
                <a:cs typeface="Aptos Display" pitchFamily="34" charset="-120"/>
              </a:rPr>
              <a:t>job  completion vs target</a:t>
            </a:r>
            <a:endParaRPr lang="en-US" sz="1300" dirty="0"/>
          </a:p>
        </p:txBody>
      </p:sp>
      <p:sp>
        <p:nvSpPr>
          <p:cNvPr id="19" name="Text 17"/>
          <p:cNvSpPr/>
          <p:nvPr/>
        </p:nvSpPr>
        <p:spPr>
          <a:xfrm>
            <a:off x="6583680" y="4160520"/>
            <a:ext cx="1691640" cy="685800"/>
          </a:xfrm>
          <a:prstGeom prst="rect">
            <a:avLst/>
          </a:prstGeom>
          <a:solidFill>
            <a:srgbClr val="F8FAFC"/>
          </a:solidFill>
          <a:ln w="10160">
            <a:solidFill>
              <a:srgbClr val="E2E8F0"/>
            </a:solidFill>
          </a:ln>
        </p:spPr>
        <p:txBody>
          <a:bodyPr wrap="square" lIns="91440" tIns="1016" rIns="1016" bIns="1016" rtlCol="0" anchor="ctr">
            <a:noAutofit/>
          </a:bodyPr>
          <a:lstStyle/>
          <a:p>
            <a:pPr marL="0" indent="0">
              <a:buNone/>
            </a:pPr>
            <a:r>
              <a:rPr lang="en-US" sz="1300" b="1" dirty="0">
                <a:solidFill>
                  <a:srgbClr val="DC2626"/>
                </a:solidFill>
                <a:latin typeface="Aptos Display" pitchFamily="34" charset="0"/>
                <a:ea typeface="Aptos Display" pitchFamily="34" charset="-122"/>
                <a:cs typeface="Aptos Display" pitchFamily="34" charset="-120"/>
              </a:rPr>
              <a:t>Risk</a:t>
            </a:r>
            <a:endParaRPr lang="en-US" sz="1300" dirty="0"/>
          </a:p>
          <a:p>
            <a:pPr marL="0" indent="0">
              <a:buNone/>
            </a:pPr>
            <a:r>
              <a:rPr lang="en-US" sz="1300" b="1" dirty="0">
                <a:solidFill>
                  <a:srgbClr val="DC2626"/>
                </a:solidFill>
                <a:latin typeface="Aptos Display" pitchFamily="34" charset="0"/>
                <a:ea typeface="Aptos Display" pitchFamily="34" charset="-122"/>
                <a:cs typeface="Aptos Display" pitchFamily="34" charset="-120"/>
              </a:rPr>
              <a:t>road + disruption exposure</a:t>
            </a:r>
            <a:endParaRPr lang="en-US" sz="1300" dirty="0"/>
          </a:p>
        </p:txBody>
      </p:sp>
      <p:sp>
        <p:nvSpPr>
          <p:cNvPr id="20" name="Text 18"/>
          <p:cNvSpPr/>
          <p:nvPr/>
        </p:nvSpPr>
        <p:spPr>
          <a:xfrm>
            <a:off x="8458200" y="4160520"/>
            <a:ext cx="1691640" cy="685800"/>
          </a:xfrm>
          <a:prstGeom prst="rect">
            <a:avLst/>
          </a:prstGeom>
          <a:solidFill>
            <a:srgbClr val="F8FAFC"/>
          </a:solidFill>
          <a:ln w="10160">
            <a:solidFill>
              <a:srgbClr val="E2E8F0"/>
            </a:solidFill>
          </a:ln>
        </p:spPr>
        <p:txBody>
          <a:bodyPr wrap="square" lIns="91440" tIns="1016" rIns="1016" bIns="1016" rtlCol="0" anchor="ctr">
            <a:noAutofit/>
          </a:bodyPr>
          <a:lstStyle/>
          <a:p>
            <a:pPr marL="0" indent="0">
              <a:buNone/>
            </a:pPr>
            <a:r>
              <a:rPr lang="en-US" sz="1300" b="1" dirty="0">
                <a:solidFill>
                  <a:srgbClr val="7C3AED"/>
                </a:solidFill>
                <a:latin typeface="Aptos Display" pitchFamily="34" charset="0"/>
                <a:ea typeface="Aptos Display" pitchFamily="34" charset="-122"/>
                <a:cs typeface="Aptos Display" pitchFamily="34" charset="-120"/>
              </a:rPr>
              <a:t>Value moved</a:t>
            </a:r>
            <a:endParaRPr lang="en-US" sz="1300" dirty="0"/>
          </a:p>
          <a:p>
            <a:pPr marL="0" indent="0">
              <a:buNone/>
            </a:pPr>
            <a:r>
              <a:rPr lang="en-US" sz="1300" b="1" dirty="0">
                <a:solidFill>
                  <a:srgbClr val="7C3AED"/>
                </a:solidFill>
                <a:latin typeface="Aptos Display" pitchFamily="34" charset="0"/>
                <a:ea typeface="Aptos Display" pitchFamily="34" charset="-122"/>
                <a:cs typeface="Aptos Display" pitchFamily="34" charset="-120"/>
              </a:rPr>
              <a:t>ore/value priority delivered</a:t>
            </a:r>
            <a:endParaRPr lang="en-US" sz="1300" dirty="0"/>
          </a:p>
        </p:txBody>
      </p:sp>
      <p:sp>
        <p:nvSpPr>
          <p:cNvPr id="21" name="Text 19"/>
          <p:cNvSpPr/>
          <p:nvPr/>
        </p:nvSpPr>
        <p:spPr>
          <a:xfrm>
            <a:off x="10332720" y="4160520"/>
            <a:ext cx="1298448" cy="685800"/>
          </a:xfrm>
          <a:prstGeom prst="rect">
            <a:avLst/>
          </a:prstGeom>
          <a:solidFill>
            <a:srgbClr val="F8FAFC"/>
          </a:solidFill>
          <a:ln w="10160">
            <a:solidFill>
              <a:srgbClr val="E2E8F0"/>
            </a:solidFill>
          </a:ln>
        </p:spPr>
        <p:txBody>
          <a:bodyPr wrap="square" lIns="91440" tIns="1016" rIns="1016" bIns="1016" rtlCol="0" anchor="ctr">
            <a:noAutofit/>
          </a:bodyPr>
          <a:lstStyle/>
          <a:p>
            <a:pPr marL="0" indent="0">
              <a:buNone/>
            </a:pPr>
            <a:r>
              <a:rPr lang="en-US" sz="1300" b="1" dirty="0">
                <a:solidFill>
                  <a:srgbClr val="0891B2"/>
                </a:solidFill>
                <a:latin typeface="Aptos Display" pitchFamily="34" charset="0"/>
                <a:ea typeface="Aptos Display" pitchFamily="34" charset="-122"/>
                <a:cs typeface="Aptos Display" pitchFamily="34" charset="-120"/>
              </a:rPr>
              <a:t>Actions</a:t>
            </a:r>
            <a:endParaRPr lang="en-US" sz="1300" dirty="0"/>
          </a:p>
          <a:p>
            <a:pPr marL="0" indent="0">
              <a:buNone/>
            </a:pPr>
            <a:r>
              <a:rPr lang="en-US" sz="1300" b="1" dirty="0">
                <a:solidFill>
                  <a:srgbClr val="0891B2"/>
                </a:solidFill>
                <a:latin typeface="Aptos Display" pitchFamily="34" charset="0"/>
                <a:ea typeface="Aptos Display" pitchFamily="34" charset="-122"/>
                <a:cs typeface="Aptos Display" pitchFamily="34" charset="-120"/>
              </a:rPr>
              <a:t>reassign  / reroute / recover</a:t>
            </a:r>
            <a:endParaRPr lang="en-US" sz="1300" dirty="0"/>
          </a:p>
        </p:txBody>
      </p:sp>
      <p:sp>
        <p:nvSpPr>
          <p:cNvPr id="25" name="Slide Number Placeholder 0"/>
          <p:cNvSpPr>
            <a:spLocks noGrp="1"/>
          </p:cNvSpPr>
          <p:nvPr>
            <p:ph type="sldNum" sz="quarter" idx="4294967295"/>
          </p:nvPr>
        </p:nvSpPr>
        <p:spPr>
          <a:xfrm>
            <a:off x="11384280" y="6528816"/>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274320"/>
            <a:ext cx="4206240" cy="201168"/>
          </a:xfrm>
          <a:prstGeom prst="rect">
            <a:avLst/>
          </a:prstGeom>
          <a:noFill/>
          <a:ln/>
        </p:spPr>
        <p:txBody>
          <a:bodyPr wrap="square" lIns="0" tIns="0" rIns="0" bIns="0" rtlCol="0" anchor="ctr"/>
          <a:lstStyle/>
          <a:p>
            <a:pPr marL="0" indent="0">
              <a:buNone/>
            </a:pPr>
            <a:r>
              <a:rPr lang="en-US" sz="850" b="1" dirty="0">
                <a:solidFill>
                  <a:srgbClr val="2563EB"/>
                </a:solidFill>
                <a:latin typeface="Aptos" pitchFamily="34" charset="0"/>
                <a:ea typeface="Aptos" pitchFamily="34" charset="-122"/>
                <a:cs typeface="Aptos" pitchFamily="34" charset="-120"/>
              </a:rPr>
              <a:t>Stress testing</a:t>
            </a:r>
            <a:endParaRPr lang="en-US" sz="850" dirty="0"/>
          </a:p>
        </p:txBody>
      </p:sp>
      <p:sp>
        <p:nvSpPr>
          <p:cNvPr id="3" name="Text 1"/>
          <p:cNvSpPr/>
          <p:nvPr/>
        </p:nvSpPr>
        <p:spPr>
          <a:xfrm>
            <a:off x="566928" y="530352"/>
            <a:ext cx="7680960" cy="475488"/>
          </a:xfrm>
          <a:prstGeom prst="rect">
            <a:avLst/>
          </a:prstGeom>
          <a:noFill/>
          <a:ln/>
        </p:spPr>
        <p:txBody>
          <a:bodyPr wrap="square" lIns="0" tIns="0" rIns="0" bIns="0" rtlCol="0" anchor="ctr"/>
          <a:lstStyle/>
          <a:p>
            <a:pPr marL="0" indent="0">
              <a:buNone/>
            </a:pPr>
            <a:r>
              <a:rPr lang="en-US" sz="2200" b="1" dirty="0">
                <a:solidFill>
                  <a:srgbClr val="0F172A"/>
                </a:solidFill>
                <a:latin typeface="Aptos Display" pitchFamily="34" charset="0"/>
                <a:ea typeface="Aptos Display" pitchFamily="34" charset="-122"/>
                <a:cs typeface="Aptos Display" pitchFamily="34" charset="-120"/>
              </a:rPr>
              <a:t>Unexpected events: learning operational resilience</a:t>
            </a:r>
            <a:endParaRPr lang="en-US" sz="2200" dirty="0"/>
          </a:p>
        </p:txBody>
      </p:sp>
      <p:sp>
        <p:nvSpPr>
          <p:cNvPr id="4" name="Shape 2"/>
          <p:cNvSpPr/>
          <p:nvPr/>
        </p:nvSpPr>
        <p:spPr>
          <a:xfrm>
            <a:off x="566928" y="1078992"/>
            <a:ext cx="11064240" cy="0"/>
          </a:xfrm>
          <a:prstGeom prst="line">
            <a:avLst/>
          </a:prstGeom>
          <a:noFill/>
          <a:ln w="12700">
            <a:solidFill>
              <a:srgbClr val="E2E8F0"/>
            </a:solidFill>
            <a:prstDash val="solid"/>
          </a:ln>
        </p:spPr>
        <p:txBody>
          <a:bodyPr/>
          <a:lstStyle/>
          <a:p>
            <a:endParaRPr lang="en-US"/>
          </a:p>
        </p:txBody>
      </p:sp>
      <p:sp>
        <p:nvSpPr>
          <p:cNvPr id="6" name="Text 3"/>
          <p:cNvSpPr/>
          <p:nvPr/>
        </p:nvSpPr>
        <p:spPr>
          <a:xfrm>
            <a:off x="6085837" y="1325880"/>
            <a:ext cx="2926080" cy="164592"/>
          </a:xfrm>
          <a:prstGeom prst="rect">
            <a:avLst/>
          </a:prstGeom>
          <a:noFill/>
          <a:ln/>
        </p:spPr>
        <p:txBody>
          <a:bodyPr wrap="square" lIns="0" tIns="0" rIns="0" bIns="0" rtlCol="0" anchor="ctr">
            <a:normAutofit/>
          </a:bodyPr>
          <a:lstStyle/>
          <a:p>
            <a:pPr marL="0" indent="0">
              <a:buNone/>
            </a:pPr>
            <a:r>
              <a:rPr lang="en-US" sz="680" b="1" dirty="0">
                <a:solidFill>
                  <a:srgbClr val="DC2626"/>
                </a:solidFill>
                <a:latin typeface="Aptos" pitchFamily="34" charset="0"/>
                <a:ea typeface="Aptos" pitchFamily="34" charset="-122"/>
                <a:cs typeface="Aptos" pitchFamily="34" charset="-120"/>
              </a:rPr>
              <a:t>SIMULATED DISRUPTION SCENARIOS</a:t>
            </a:r>
            <a:endParaRPr lang="en-US" sz="680" dirty="0"/>
          </a:p>
        </p:txBody>
      </p:sp>
      <p:sp>
        <p:nvSpPr>
          <p:cNvPr id="7" name="Text 4"/>
          <p:cNvSpPr/>
          <p:nvPr/>
        </p:nvSpPr>
        <p:spPr>
          <a:xfrm>
            <a:off x="6131557" y="1719072"/>
            <a:ext cx="2560320" cy="658368"/>
          </a:xfrm>
          <a:prstGeom prst="rect">
            <a:avLst/>
          </a:prstGeom>
          <a:solidFill>
            <a:srgbClr val="FFFFFF"/>
          </a:solidFill>
          <a:ln w="13970">
            <a:solidFill>
              <a:srgbClr val="E5E7EB"/>
            </a:solidFill>
          </a:ln>
        </p:spPr>
        <p:txBody>
          <a:bodyPr wrap="square" lIns="91440" tIns="1651" rIns="1651" bIns="1651" rtlCol="0" anchor="ctr">
            <a:normAutofit/>
          </a:bodyPr>
          <a:lstStyle/>
          <a:p>
            <a:pPr marL="0" indent="0">
              <a:buNone/>
            </a:pPr>
            <a:r>
              <a:rPr lang="en-US" sz="1050" b="1" dirty="0">
                <a:solidFill>
                  <a:srgbClr val="334155"/>
                </a:solidFill>
                <a:latin typeface="Aptos" pitchFamily="34" charset="0"/>
                <a:ea typeface="Aptos" pitchFamily="34" charset="-122"/>
                <a:cs typeface="Aptos" pitchFamily="34" charset="-120"/>
              </a:rPr>
              <a:t>Truck down</a:t>
            </a:r>
            <a:endParaRPr lang="en-US" sz="1050" b="1" dirty="0"/>
          </a:p>
          <a:p>
            <a:pPr marL="0" indent="0">
              <a:buNone/>
            </a:pPr>
            <a:r>
              <a:rPr lang="en-US" sz="1050" dirty="0">
                <a:solidFill>
                  <a:srgbClr val="334155"/>
                </a:solidFill>
                <a:latin typeface="Aptos" pitchFamily="34" charset="0"/>
                <a:ea typeface="Aptos" pitchFamily="34" charset="-122"/>
                <a:cs typeface="Aptos" pitchFamily="34" charset="-120"/>
              </a:rPr>
              <a:t>A truck becomes unavailable; dispatch must recover with remaining fleet.</a:t>
            </a:r>
            <a:endParaRPr lang="en-US" sz="1050" dirty="0"/>
          </a:p>
        </p:txBody>
      </p:sp>
      <p:sp>
        <p:nvSpPr>
          <p:cNvPr id="8" name="Shape 5"/>
          <p:cNvSpPr/>
          <p:nvPr/>
        </p:nvSpPr>
        <p:spPr>
          <a:xfrm>
            <a:off x="6113085" y="1719072"/>
            <a:ext cx="73152" cy="658368"/>
          </a:xfrm>
          <a:prstGeom prst="rect">
            <a:avLst/>
          </a:prstGeom>
          <a:solidFill>
            <a:srgbClr val="DC2626"/>
          </a:solidFill>
          <a:ln w="12700">
            <a:solidFill>
              <a:srgbClr val="DC2626">
                <a:alpha val="0"/>
              </a:srgbClr>
            </a:solidFill>
            <a:prstDash val="solid"/>
          </a:ln>
        </p:spPr>
        <p:txBody>
          <a:bodyPr/>
          <a:lstStyle/>
          <a:p>
            <a:endParaRPr lang="en-US"/>
          </a:p>
        </p:txBody>
      </p:sp>
      <p:sp>
        <p:nvSpPr>
          <p:cNvPr id="9" name="Text 6"/>
          <p:cNvSpPr/>
          <p:nvPr/>
        </p:nvSpPr>
        <p:spPr>
          <a:xfrm>
            <a:off x="8966196" y="1719072"/>
            <a:ext cx="2634673" cy="658368"/>
          </a:xfrm>
          <a:prstGeom prst="rect">
            <a:avLst/>
          </a:prstGeom>
          <a:solidFill>
            <a:srgbClr val="FFFFFF"/>
          </a:solidFill>
          <a:ln w="13970">
            <a:solidFill>
              <a:srgbClr val="E5E7EB"/>
            </a:solidFill>
          </a:ln>
        </p:spPr>
        <p:txBody>
          <a:bodyPr wrap="square" lIns="91440" tIns="1651" rIns="1651" bIns="1651" rtlCol="0" anchor="ctr">
            <a:normAutofit/>
          </a:bodyPr>
          <a:lstStyle/>
          <a:p>
            <a:pPr marL="0" indent="0">
              <a:buNone/>
            </a:pPr>
            <a:r>
              <a:rPr lang="en-US" sz="1050" b="1" dirty="0">
                <a:solidFill>
                  <a:srgbClr val="334155"/>
                </a:solidFill>
                <a:latin typeface="Aptos" pitchFamily="34" charset="0"/>
                <a:ea typeface="Aptos" pitchFamily="34" charset="-122"/>
                <a:cs typeface="Aptos" pitchFamily="34" charset="-120"/>
              </a:rPr>
              <a:t>Road closed</a:t>
            </a:r>
            <a:endParaRPr lang="en-US" sz="1050" b="1" dirty="0"/>
          </a:p>
          <a:p>
            <a:pPr marL="0" indent="0">
              <a:buNone/>
            </a:pPr>
            <a:r>
              <a:rPr lang="en-US" sz="1050" dirty="0">
                <a:solidFill>
                  <a:srgbClr val="334155"/>
                </a:solidFill>
                <a:latin typeface="Aptos" pitchFamily="34" charset="0"/>
                <a:ea typeface="Aptos" pitchFamily="34" charset="-122"/>
                <a:cs typeface="Aptos" pitchFamily="34" charset="-120"/>
              </a:rPr>
              <a:t>Route must shift to an alternate path; cycle time and risk change.</a:t>
            </a:r>
            <a:endParaRPr lang="en-US" sz="1050" dirty="0"/>
          </a:p>
        </p:txBody>
      </p:sp>
      <p:sp>
        <p:nvSpPr>
          <p:cNvPr id="10" name="Shape 7"/>
          <p:cNvSpPr/>
          <p:nvPr/>
        </p:nvSpPr>
        <p:spPr>
          <a:xfrm>
            <a:off x="8947725" y="1719072"/>
            <a:ext cx="73152" cy="658368"/>
          </a:xfrm>
          <a:prstGeom prst="rect">
            <a:avLst/>
          </a:prstGeom>
          <a:solidFill>
            <a:srgbClr val="EA580C"/>
          </a:solidFill>
          <a:ln w="12700">
            <a:solidFill>
              <a:srgbClr val="EA580C">
                <a:alpha val="0"/>
              </a:srgbClr>
            </a:solidFill>
            <a:prstDash val="solid"/>
          </a:ln>
        </p:spPr>
        <p:txBody>
          <a:bodyPr/>
          <a:lstStyle/>
          <a:p>
            <a:endParaRPr lang="en-US"/>
          </a:p>
        </p:txBody>
      </p:sp>
      <p:sp>
        <p:nvSpPr>
          <p:cNvPr id="11" name="Text 8"/>
          <p:cNvSpPr/>
          <p:nvPr/>
        </p:nvSpPr>
        <p:spPr>
          <a:xfrm>
            <a:off x="6131557" y="2606040"/>
            <a:ext cx="2560320" cy="658368"/>
          </a:xfrm>
          <a:prstGeom prst="rect">
            <a:avLst/>
          </a:prstGeom>
          <a:solidFill>
            <a:srgbClr val="FFFFFF"/>
          </a:solidFill>
          <a:ln w="13970">
            <a:solidFill>
              <a:srgbClr val="E5E7EB"/>
            </a:solidFill>
          </a:ln>
        </p:spPr>
        <p:txBody>
          <a:bodyPr wrap="square" lIns="91440" tIns="1651" rIns="1651" bIns="1651" rtlCol="0" anchor="ctr">
            <a:normAutofit/>
          </a:bodyPr>
          <a:lstStyle/>
          <a:p>
            <a:pPr marL="0" indent="0">
              <a:buNone/>
            </a:pPr>
            <a:r>
              <a:rPr lang="en-US" sz="1050" b="1" dirty="0">
                <a:solidFill>
                  <a:srgbClr val="334155"/>
                </a:solidFill>
                <a:latin typeface="Aptos" pitchFamily="34" charset="0"/>
                <a:ea typeface="Aptos" pitchFamily="34" charset="-122"/>
                <a:cs typeface="Aptos" pitchFamily="34" charset="-120"/>
              </a:rPr>
              <a:t>Crusher/service delay</a:t>
            </a:r>
            <a:endParaRPr lang="en-US" sz="1050" b="1" dirty="0"/>
          </a:p>
          <a:p>
            <a:pPr marL="0" indent="0">
              <a:buNone/>
            </a:pPr>
            <a:r>
              <a:rPr lang="en-US" sz="1050" dirty="0">
                <a:solidFill>
                  <a:srgbClr val="334155"/>
                </a:solidFill>
                <a:latin typeface="Aptos" pitchFamily="34" charset="0"/>
                <a:ea typeface="Aptos" pitchFamily="34" charset="-122"/>
                <a:cs typeface="Aptos" pitchFamily="34" charset="-120"/>
              </a:rPr>
              <a:t>Destination queue grows and trucks may need different assignments.</a:t>
            </a:r>
            <a:endParaRPr lang="en-US" sz="1050" dirty="0"/>
          </a:p>
        </p:txBody>
      </p:sp>
      <p:sp>
        <p:nvSpPr>
          <p:cNvPr id="12" name="Shape 9"/>
          <p:cNvSpPr/>
          <p:nvPr/>
        </p:nvSpPr>
        <p:spPr>
          <a:xfrm>
            <a:off x="6113085" y="2606040"/>
            <a:ext cx="73152" cy="658368"/>
          </a:xfrm>
          <a:prstGeom prst="rect">
            <a:avLst/>
          </a:prstGeom>
          <a:solidFill>
            <a:srgbClr val="16A34A"/>
          </a:solidFill>
          <a:ln w="12700">
            <a:solidFill>
              <a:srgbClr val="16A34A">
                <a:alpha val="0"/>
              </a:srgbClr>
            </a:solidFill>
            <a:prstDash val="solid"/>
          </a:ln>
        </p:spPr>
        <p:txBody>
          <a:bodyPr/>
          <a:lstStyle/>
          <a:p>
            <a:endParaRPr lang="en-US"/>
          </a:p>
        </p:txBody>
      </p:sp>
      <p:sp>
        <p:nvSpPr>
          <p:cNvPr id="13" name="Text 10"/>
          <p:cNvSpPr/>
          <p:nvPr/>
        </p:nvSpPr>
        <p:spPr>
          <a:xfrm>
            <a:off x="8966197" y="2606040"/>
            <a:ext cx="2634672" cy="658368"/>
          </a:xfrm>
          <a:prstGeom prst="rect">
            <a:avLst/>
          </a:prstGeom>
          <a:solidFill>
            <a:srgbClr val="FFFFFF"/>
          </a:solidFill>
          <a:ln w="13970">
            <a:solidFill>
              <a:srgbClr val="E5E7EB"/>
            </a:solidFill>
          </a:ln>
        </p:spPr>
        <p:txBody>
          <a:bodyPr wrap="square" lIns="91440" tIns="1651" rIns="1651" bIns="1651" rtlCol="0" anchor="ctr">
            <a:normAutofit/>
          </a:bodyPr>
          <a:lstStyle/>
          <a:p>
            <a:pPr marL="0" indent="0">
              <a:buNone/>
            </a:pPr>
            <a:r>
              <a:rPr lang="en-US" sz="1050" b="1" dirty="0">
                <a:solidFill>
                  <a:srgbClr val="334155"/>
                </a:solidFill>
                <a:latin typeface="Aptos" pitchFamily="34" charset="0"/>
                <a:ea typeface="Aptos" pitchFamily="34" charset="-122"/>
                <a:cs typeface="Aptos" pitchFamily="34" charset="-120"/>
              </a:rPr>
              <a:t>Weather slowdown</a:t>
            </a:r>
            <a:endParaRPr lang="en-US" sz="1050" b="1" dirty="0"/>
          </a:p>
          <a:p>
            <a:pPr marL="0" indent="0">
              <a:buNone/>
            </a:pPr>
            <a:r>
              <a:rPr lang="en-US" sz="1050" dirty="0">
                <a:solidFill>
                  <a:srgbClr val="334155"/>
                </a:solidFill>
                <a:latin typeface="Aptos" pitchFamily="34" charset="0"/>
                <a:ea typeface="Aptos" pitchFamily="34" charset="-122"/>
                <a:cs typeface="Aptos" pitchFamily="34" charset="-120"/>
              </a:rPr>
              <a:t>Road speed factor falls; shift plan may no longer be feasible.</a:t>
            </a:r>
            <a:endParaRPr lang="en-US" sz="1050" dirty="0"/>
          </a:p>
        </p:txBody>
      </p:sp>
      <p:sp>
        <p:nvSpPr>
          <p:cNvPr id="14" name="Shape 11"/>
          <p:cNvSpPr/>
          <p:nvPr/>
        </p:nvSpPr>
        <p:spPr>
          <a:xfrm>
            <a:off x="8947725" y="2606040"/>
            <a:ext cx="73152" cy="658368"/>
          </a:xfrm>
          <a:prstGeom prst="rect">
            <a:avLst/>
          </a:prstGeom>
          <a:solidFill>
            <a:srgbClr val="0891B2"/>
          </a:solidFill>
          <a:ln w="12700">
            <a:solidFill>
              <a:srgbClr val="0891B2">
                <a:alpha val="0"/>
              </a:srgbClr>
            </a:solidFill>
            <a:prstDash val="solid"/>
          </a:ln>
        </p:spPr>
        <p:txBody>
          <a:bodyPr/>
          <a:lstStyle/>
          <a:p>
            <a:endParaRPr lang="en-US"/>
          </a:p>
        </p:txBody>
      </p:sp>
      <p:sp>
        <p:nvSpPr>
          <p:cNvPr id="15" name="Text 12"/>
          <p:cNvSpPr/>
          <p:nvPr/>
        </p:nvSpPr>
        <p:spPr>
          <a:xfrm>
            <a:off x="6085837" y="3840480"/>
            <a:ext cx="3017520" cy="164592"/>
          </a:xfrm>
          <a:prstGeom prst="rect">
            <a:avLst/>
          </a:prstGeom>
          <a:noFill/>
          <a:ln/>
        </p:spPr>
        <p:txBody>
          <a:bodyPr wrap="square" lIns="0" tIns="0" rIns="0" bIns="0" rtlCol="0" anchor="ctr">
            <a:normAutofit/>
          </a:bodyPr>
          <a:lstStyle/>
          <a:p>
            <a:pPr marL="0" indent="0">
              <a:buNone/>
            </a:pPr>
            <a:r>
              <a:rPr lang="en-US" sz="680" b="1" dirty="0">
                <a:solidFill>
                  <a:srgbClr val="7C3AED"/>
                </a:solidFill>
                <a:latin typeface="Aptos" pitchFamily="34" charset="0"/>
                <a:ea typeface="Aptos" pitchFamily="34" charset="-122"/>
                <a:cs typeface="Aptos" pitchFamily="34" charset="-120"/>
              </a:rPr>
              <a:t>PROFESSIONAL LEARNING POINT</a:t>
            </a:r>
            <a:endParaRPr lang="en-US" sz="680" dirty="0"/>
          </a:p>
        </p:txBody>
      </p:sp>
      <p:sp>
        <p:nvSpPr>
          <p:cNvPr id="16" name="Text 13"/>
          <p:cNvSpPr/>
          <p:nvPr/>
        </p:nvSpPr>
        <p:spPr>
          <a:xfrm>
            <a:off x="6131557" y="4160520"/>
            <a:ext cx="5257800" cy="1508760"/>
          </a:xfrm>
          <a:prstGeom prst="rect">
            <a:avLst/>
          </a:prstGeom>
          <a:noFill/>
          <a:ln/>
        </p:spPr>
        <p:txBody>
          <a:bodyPr wrap="square" lIns="762" tIns="762" rIns="762" bIns="762" rtlCol="0" anchor="ctr">
            <a:normAutofit/>
          </a:bodyPr>
          <a:lstStyle/>
          <a:p>
            <a:r>
              <a:rPr lang="en-US" sz="1230" dirty="0">
                <a:solidFill>
                  <a:srgbClr val="334155"/>
                </a:solidFill>
                <a:latin typeface="Aptos" pitchFamily="34" charset="0"/>
                <a:ea typeface="Aptos" pitchFamily="34" charset="-122"/>
                <a:cs typeface="Aptos" pitchFamily="34" charset="-120"/>
              </a:rPr>
              <a:t>A plan should not only pass under ideal conditions.</a:t>
            </a:r>
            <a:endParaRPr lang="en-US" sz="1230" dirty="0"/>
          </a:p>
          <a:p>
            <a:r>
              <a:rPr lang="en-US" sz="1230" dirty="0">
                <a:solidFill>
                  <a:srgbClr val="334155"/>
                </a:solidFill>
                <a:latin typeface="Aptos" pitchFamily="34" charset="0"/>
                <a:ea typeface="Aptos" pitchFamily="34" charset="-122"/>
                <a:cs typeface="Aptos" pitchFamily="34" charset="-120"/>
              </a:rPr>
              <a:t>Resilience is measured by how quickly the dispatcher can protect critical jobs after disruption.</a:t>
            </a:r>
            <a:endParaRPr lang="en-US" sz="1230" dirty="0"/>
          </a:p>
          <a:p>
            <a:r>
              <a:rPr lang="en-US" sz="1230" dirty="0">
                <a:solidFill>
                  <a:srgbClr val="334155"/>
                </a:solidFill>
                <a:latin typeface="Aptos" pitchFamily="34" charset="0"/>
                <a:ea typeface="Aptos" pitchFamily="34" charset="-122"/>
                <a:cs typeface="Aptos" pitchFamily="34" charset="-120"/>
              </a:rPr>
              <a:t>MineOps helps compare planned target vs stressed execution, not just normal-case output.</a:t>
            </a:r>
            <a:endParaRPr lang="en-US" sz="1230" dirty="0"/>
          </a:p>
        </p:txBody>
      </p:sp>
      <p:sp>
        <p:nvSpPr>
          <p:cNvPr id="25" name="Slide Number Placeholder 0"/>
          <p:cNvSpPr>
            <a:spLocks noGrp="1"/>
          </p:cNvSpPr>
          <p:nvPr>
            <p:ph type="sldNum" sz="quarter" idx="4294967295"/>
          </p:nvPr>
        </p:nvSpPr>
        <p:spPr>
          <a:xfrm>
            <a:off x="11384280" y="6528816"/>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lang="en-US" b="0"/>
              <a:t>9</a:t>
            </a:fld>
            <a:endParaRPr lang="en-US"/>
          </a:p>
        </p:txBody>
      </p:sp>
      <p:pic>
        <p:nvPicPr>
          <p:cNvPr id="18" name="Picture 17">
            <a:extLst>
              <a:ext uri="{FF2B5EF4-FFF2-40B4-BE49-F238E27FC236}">
                <a16:creationId xmlns:a16="http://schemas.microsoft.com/office/drawing/2014/main" id="{0EBA2087-59E9-7C11-4714-8653B9BC6AB3}"/>
              </a:ext>
            </a:extLst>
          </p:cNvPr>
          <p:cNvPicPr>
            <a:picLocks noChangeAspect="1"/>
          </p:cNvPicPr>
          <p:nvPr/>
        </p:nvPicPr>
        <p:blipFill>
          <a:blip r:embed="rId3"/>
          <a:stretch>
            <a:fillRect/>
          </a:stretch>
        </p:blipFill>
        <p:spPr>
          <a:xfrm>
            <a:off x="383288" y="1380744"/>
            <a:ext cx="5350728" cy="2350007"/>
          </a:xfrm>
          <a:prstGeom prst="rect">
            <a:avLst/>
          </a:prstGeom>
        </p:spPr>
      </p:pic>
      <p:pic>
        <p:nvPicPr>
          <p:cNvPr id="20" name="Picture 19">
            <a:extLst>
              <a:ext uri="{FF2B5EF4-FFF2-40B4-BE49-F238E27FC236}">
                <a16:creationId xmlns:a16="http://schemas.microsoft.com/office/drawing/2014/main" id="{AE5BCB3D-8947-FBF9-B94C-A27AA2713C8C}"/>
              </a:ext>
            </a:extLst>
          </p:cNvPr>
          <p:cNvPicPr>
            <a:picLocks noChangeAspect="1"/>
          </p:cNvPicPr>
          <p:nvPr/>
        </p:nvPicPr>
        <p:blipFill>
          <a:blip r:embed="rId4"/>
          <a:stretch>
            <a:fillRect/>
          </a:stretch>
        </p:blipFill>
        <p:spPr>
          <a:xfrm>
            <a:off x="383288" y="3994448"/>
            <a:ext cx="5350728" cy="148215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274320"/>
            <a:ext cx="4206240" cy="201168"/>
          </a:xfrm>
          <a:prstGeom prst="rect">
            <a:avLst/>
          </a:prstGeom>
          <a:noFill/>
          <a:ln/>
        </p:spPr>
        <p:txBody>
          <a:bodyPr wrap="square" lIns="0" tIns="0" rIns="0" bIns="0" rtlCol="0" anchor="ctr"/>
          <a:lstStyle/>
          <a:p>
            <a:pPr marL="0" indent="0">
              <a:buNone/>
            </a:pPr>
            <a:r>
              <a:rPr lang="en-US" sz="850" b="1" dirty="0">
                <a:solidFill>
                  <a:srgbClr val="2563EB"/>
                </a:solidFill>
                <a:latin typeface="Aptos" pitchFamily="34" charset="0"/>
                <a:ea typeface="Aptos" pitchFamily="34" charset="-122"/>
                <a:cs typeface="Aptos" pitchFamily="34" charset="-120"/>
              </a:rPr>
              <a:t>Thinking like a dispatcher</a:t>
            </a:r>
            <a:endParaRPr lang="en-US" sz="850" dirty="0"/>
          </a:p>
        </p:txBody>
      </p:sp>
      <p:sp>
        <p:nvSpPr>
          <p:cNvPr id="3" name="Text 1"/>
          <p:cNvSpPr/>
          <p:nvPr/>
        </p:nvSpPr>
        <p:spPr>
          <a:xfrm>
            <a:off x="566928" y="530352"/>
            <a:ext cx="7680960" cy="475488"/>
          </a:xfrm>
          <a:prstGeom prst="rect">
            <a:avLst/>
          </a:prstGeom>
          <a:noFill/>
          <a:ln/>
        </p:spPr>
        <p:txBody>
          <a:bodyPr wrap="square" lIns="0" tIns="0" rIns="0" bIns="0" rtlCol="0" anchor="ctr"/>
          <a:lstStyle/>
          <a:p>
            <a:pPr marL="0" indent="0">
              <a:buNone/>
            </a:pPr>
            <a:r>
              <a:rPr lang="en-US" sz="2200" b="1" dirty="0">
                <a:solidFill>
                  <a:srgbClr val="0F172A"/>
                </a:solidFill>
                <a:latin typeface="Aptos Display" pitchFamily="34" charset="0"/>
                <a:ea typeface="Aptos Display" pitchFamily="34" charset="-122"/>
                <a:cs typeface="Aptos Display" pitchFamily="34" charset="-120"/>
              </a:rPr>
              <a:t>Live manual dispatcher loop</a:t>
            </a:r>
            <a:endParaRPr lang="en-US" sz="2200" dirty="0"/>
          </a:p>
        </p:txBody>
      </p:sp>
      <p:sp>
        <p:nvSpPr>
          <p:cNvPr id="4" name="Shape 2"/>
          <p:cNvSpPr/>
          <p:nvPr/>
        </p:nvSpPr>
        <p:spPr>
          <a:xfrm>
            <a:off x="566928" y="1078992"/>
            <a:ext cx="11064240" cy="0"/>
          </a:xfrm>
          <a:prstGeom prst="line">
            <a:avLst/>
          </a:prstGeom>
          <a:noFill/>
          <a:ln w="12700">
            <a:solidFill>
              <a:srgbClr val="E2E8F0"/>
            </a:solidFill>
            <a:prstDash val="solid"/>
          </a:ln>
        </p:spPr>
        <p:txBody>
          <a:bodyPr/>
          <a:lstStyle/>
          <a:p>
            <a:endParaRPr lang="en-US"/>
          </a:p>
        </p:txBody>
      </p:sp>
      <p:sp>
        <p:nvSpPr>
          <p:cNvPr id="5" name="Text 3"/>
          <p:cNvSpPr/>
          <p:nvPr/>
        </p:nvSpPr>
        <p:spPr>
          <a:xfrm>
            <a:off x="749808" y="1307592"/>
            <a:ext cx="5669280" cy="822960"/>
          </a:xfrm>
          <a:prstGeom prst="rect">
            <a:avLst/>
          </a:prstGeom>
          <a:noFill/>
          <a:ln/>
        </p:spPr>
        <p:txBody>
          <a:bodyPr wrap="square" lIns="635" tIns="635" rIns="635" bIns="635" rtlCol="0" anchor="ctr">
            <a:normAutofit/>
          </a:bodyPr>
          <a:lstStyle/>
          <a:p>
            <a:pPr marL="0" indent="0">
              <a:buNone/>
            </a:pPr>
            <a:r>
              <a:rPr lang="en-US" sz="1800" b="1" dirty="0">
                <a:solidFill>
                  <a:srgbClr val="0F172A"/>
                </a:solidFill>
                <a:latin typeface="Aptos Display" pitchFamily="34" charset="0"/>
                <a:ea typeface="Aptos Display" pitchFamily="34" charset="-122"/>
                <a:cs typeface="Aptos Display" pitchFamily="34" charset="-120"/>
              </a:rPr>
              <a:t>The live loop was built to learn how a dispatcher might monitor, pause, reassign and recover the shift.</a:t>
            </a:r>
            <a:endParaRPr lang="en-US" sz="1800" dirty="0"/>
          </a:p>
        </p:txBody>
      </p:sp>
      <p:sp>
        <p:nvSpPr>
          <p:cNvPr id="6" name="Text 4"/>
          <p:cNvSpPr/>
          <p:nvPr/>
        </p:nvSpPr>
        <p:spPr>
          <a:xfrm>
            <a:off x="868680" y="2651760"/>
            <a:ext cx="1828800" cy="603504"/>
          </a:xfrm>
          <a:prstGeom prst="rect">
            <a:avLst/>
          </a:prstGeom>
          <a:solidFill>
            <a:srgbClr val="2563EB"/>
          </a:solidFill>
          <a:ln>
            <a:solidFill>
              <a:srgbClr val="2563EB">
                <a:alpha val="0"/>
              </a:srgbClr>
            </a:solidFill>
          </a:ln>
        </p:spPr>
        <p:txBody>
          <a:bodyPr wrap="square" lIns="762" tIns="762" rIns="762" bIns="762"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MONITOR</a:t>
            </a:r>
            <a:endParaRPr lang="en-US" sz="1050" dirty="0"/>
          </a:p>
          <a:p>
            <a:pPr marL="0" indent="0" algn="ctr">
              <a:buNone/>
            </a:pPr>
            <a:r>
              <a:rPr lang="en-US" sz="1050" b="1" dirty="0">
                <a:solidFill>
                  <a:srgbClr val="FFFFFF"/>
                </a:solidFill>
                <a:latin typeface="Aptos" pitchFamily="34" charset="0"/>
                <a:ea typeface="Aptos" pitchFamily="34" charset="-122"/>
                <a:cs typeface="Aptos" pitchFamily="34" charset="-120"/>
              </a:rPr>
              <a:t>truck status • job attainment</a:t>
            </a:r>
            <a:endParaRPr lang="en-US" sz="1050" dirty="0"/>
          </a:p>
        </p:txBody>
      </p:sp>
      <p:sp>
        <p:nvSpPr>
          <p:cNvPr id="7" name="Shape 5"/>
          <p:cNvSpPr/>
          <p:nvPr/>
        </p:nvSpPr>
        <p:spPr>
          <a:xfrm>
            <a:off x="2788920" y="2953512"/>
            <a:ext cx="640080" cy="0"/>
          </a:xfrm>
          <a:prstGeom prst="line">
            <a:avLst/>
          </a:prstGeom>
          <a:noFill/>
          <a:ln w="16510">
            <a:solidFill>
              <a:srgbClr val="64748B"/>
            </a:solidFill>
            <a:prstDash val="solid"/>
            <a:headEnd type="none"/>
            <a:tailEnd type="triangle"/>
          </a:ln>
        </p:spPr>
        <p:txBody>
          <a:bodyPr/>
          <a:lstStyle/>
          <a:p>
            <a:endParaRPr lang="en-US"/>
          </a:p>
        </p:txBody>
      </p:sp>
      <p:sp>
        <p:nvSpPr>
          <p:cNvPr id="8" name="Text 6"/>
          <p:cNvSpPr/>
          <p:nvPr/>
        </p:nvSpPr>
        <p:spPr>
          <a:xfrm>
            <a:off x="3584448" y="2651760"/>
            <a:ext cx="1828800" cy="603504"/>
          </a:xfrm>
          <a:prstGeom prst="rect">
            <a:avLst/>
          </a:prstGeom>
          <a:solidFill>
            <a:srgbClr val="EA580C"/>
          </a:solidFill>
          <a:ln>
            <a:solidFill>
              <a:srgbClr val="EA580C">
                <a:alpha val="0"/>
              </a:srgbClr>
            </a:solidFill>
          </a:ln>
        </p:spPr>
        <p:txBody>
          <a:bodyPr wrap="square" lIns="762" tIns="762" rIns="762" bIns="762"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PAUSE</a:t>
            </a:r>
            <a:endParaRPr lang="en-US" sz="1050" dirty="0"/>
          </a:p>
          <a:p>
            <a:pPr marL="0" indent="0" algn="ctr">
              <a:buNone/>
            </a:pPr>
            <a:r>
              <a:rPr lang="en-US" sz="1050" b="1" dirty="0">
                <a:solidFill>
                  <a:srgbClr val="FFFFFF"/>
                </a:solidFill>
                <a:latin typeface="Aptos" pitchFamily="34" charset="0"/>
                <a:ea typeface="Aptos" pitchFamily="34" charset="-122"/>
                <a:cs typeface="Aptos" pitchFamily="34" charset="-120"/>
              </a:rPr>
              <a:t>when event or gap appears</a:t>
            </a:r>
            <a:endParaRPr lang="en-US" sz="1050" dirty="0"/>
          </a:p>
        </p:txBody>
      </p:sp>
      <p:sp>
        <p:nvSpPr>
          <p:cNvPr id="9" name="Shape 7"/>
          <p:cNvSpPr/>
          <p:nvPr/>
        </p:nvSpPr>
        <p:spPr>
          <a:xfrm>
            <a:off x="5504688" y="2953512"/>
            <a:ext cx="640080" cy="0"/>
          </a:xfrm>
          <a:prstGeom prst="line">
            <a:avLst/>
          </a:prstGeom>
          <a:noFill/>
          <a:ln w="16510">
            <a:solidFill>
              <a:srgbClr val="64748B"/>
            </a:solidFill>
            <a:prstDash val="solid"/>
            <a:headEnd type="none"/>
            <a:tailEnd type="triangle"/>
          </a:ln>
        </p:spPr>
        <p:txBody>
          <a:bodyPr/>
          <a:lstStyle/>
          <a:p>
            <a:endParaRPr lang="en-US"/>
          </a:p>
        </p:txBody>
      </p:sp>
      <p:sp>
        <p:nvSpPr>
          <p:cNvPr id="10" name="Text 8"/>
          <p:cNvSpPr/>
          <p:nvPr/>
        </p:nvSpPr>
        <p:spPr>
          <a:xfrm>
            <a:off x="6291072" y="2651760"/>
            <a:ext cx="1828800" cy="603504"/>
          </a:xfrm>
          <a:prstGeom prst="rect">
            <a:avLst/>
          </a:prstGeom>
          <a:solidFill>
            <a:srgbClr val="16A34A"/>
          </a:solidFill>
          <a:ln>
            <a:solidFill>
              <a:srgbClr val="16A34A">
                <a:alpha val="0"/>
              </a:srgbClr>
            </a:solidFill>
          </a:ln>
        </p:spPr>
        <p:txBody>
          <a:bodyPr wrap="square" lIns="762" tIns="762" rIns="762" bIns="762"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REASSIGN</a:t>
            </a:r>
            <a:endParaRPr lang="en-US" sz="1050" dirty="0"/>
          </a:p>
          <a:p>
            <a:pPr marL="0" indent="0" algn="ctr">
              <a:buNone/>
            </a:pPr>
            <a:r>
              <a:rPr lang="en-US" sz="1050" b="1" dirty="0">
                <a:solidFill>
                  <a:srgbClr val="FFFFFF"/>
                </a:solidFill>
                <a:latin typeface="Aptos" pitchFamily="34" charset="0"/>
                <a:ea typeface="Aptos" pitchFamily="34" charset="-122"/>
                <a:cs typeface="Aptos" pitchFamily="34" charset="-120"/>
              </a:rPr>
              <a:t>truck/job/route decision</a:t>
            </a:r>
            <a:endParaRPr lang="en-US" sz="1050" dirty="0"/>
          </a:p>
        </p:txBody>
      </p:sp>
      <p:sp>
        <p:nvSpPr>
          <p:cNvPr id="11" name="Shape 9"/>
          <p:cNvSpPr/>
          <p:nvPr/>
        </p:nvSpPr>
        <p:spPr>
          <a:xfrm>
            <a:off x="8211312" y="2953512"/>
            <a:ext cx="640080" cy="0"/>
          </a:xfrm>
          <a:prstGeom prst="line">
            <a:avLst/>
          </a:prstGeom>
          <a:noFill/>
          <a:ln w="16510">
            <a:solidFill>
              <a:srgbClr val="64748B"/>
            </a:solidFill>
            <a:prstDash val="solid"/>
            <a:headEnd type="none"/>
            <a:tailEnd type="triangle"/>
          </a:ln>
        </p:spPr>
        <p:txBody>
          <a:bodyPr/>
          <a:lstStyle/>
          <a:p>
            <a:endParaRPr lang="en-US"/>
          </a:p>
        </p:txBody>
      </p:sp>
      <p:sp>
        <p:nvSpPr>
          <p:cNvPr id="12" name="Text 10"/>
          <p:cNvSpPr/>
          <p:nvPr/>
        </p:nvSpPr>
        <p:spPr>
          <a:xfrm>
            <a:off x="8997696" y="2651760"/>
            <a:ext cx="1417320" cy="603504"/>
          </a:xfrm>
          <a:prstGeom prst="rect">
            <a:avLst/>
          </a:prstGeom>
          <a:solidFill>
            <a:srgbClr val="0891B2"/>
          </a:solidFill>
          <a:ln>
            <a:solidFill>
              <a:srgbClr val="0891B2">
                <a:alpha val="0"/>
              </a:srgbClr>
            </a:solidFill>
          </a:ln>
        </p:spPr>
        <p:txBody>
          <a:bodyPr wrap="square" lIns="762" tIns="762" rIns="762" bIns="762"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PLAY</a:t>
            </a:r>
            <a:endParaRPr lang="en-US" sz="1050" dirty="0"/>
          </a:p>
          <a:p>
            <a:pPr marL="0" indent="0" algn="ctr">
              <a:buNone/>
            </a:pPr>
            <a:r>
              <a:rPr lang="en-US" sz="1050" b="1" dirty="0">
                <a:solidFill>
                  <a:srgbClr val="FFFFFF"/>
                </a:solidFill>
                <a:latin typeface="Aptos" pitchFamily="34" charset="0"/>
                <a:ea typeface="Aptos" pitchFamily="34" charset="-122"/>
                <a:cs typeface="Aptos" pitchFamily="34" charset="-120"/>
              </a:rPr>
              <a:t>continue simulation</a:t>
            </a:r>
            <a:endParaRPr lang="en-US" sz="1050" dirty="0"/>
          </a:p>
        </p:txBody>
      </p:sp>
      <p:sp>
        <p:nvSpPr>
          <p:cNvPr id="13" name="Shape 11"/>
          <p:cNvSpPr/>
          <p:nvPr/>
        </p:nvSpPr>
        <p:spPr>
          <a:xfrm>
            <a:off x="10533888" y="2953512"/>
            <a:ext cx="576072" cy="0"/>
          </a:xfrm>
          <a:prstGeom prst="line">
            <a:avLst/>
          </a:prstGeom>
          <a:noFill/>
          <a:ln w="16510">
            <a:solidFill>
              <a:srgbClr val="64748B"/>
            </a:solidFill>
            <a:prstDash val="solid"/>
            <a:headEnd type="none"/>
            <a:tailEnd type="triangle"/>
          </a:ln>
        </p:spPr>
        <p:txBody>
          <a:bodyPr/>
          <a:lstStyle/>
          <a:p>
            <a:endParaRPr lang="en-US"/>
          </a:p>
        </p:txBody>
      </p:sp>
      <p:sp>
        <p:nvSpPr>
          <p:cNvPr id="14" name="Text 12"/>
          <p:cNvSpPr/>
          <p:nvPr/>
        </p:nvSpPr>
        <p:spPr>
          <a:xfrm>
            <a:off x="11201400" y="2651760"/>
            <a:ext cx="658368" cy="603504"/>
          </a:xfrm>
          <a:prstGeom prst="rect">
            <a:avLst/>
          </a:prstGeom>
          <a:solidFill>
            <a:srgbClr val="7C3AED"/>
          </a:solidFill>
          <a:ln>
            <a:solidFill>
              <a:srgbClr val="7C3AED">
                <a:alpha val="0"/>
              </a:srgbClr>
            </a:solidFill>
          </a:ln>
        </p:spPr>
        <p:txBody>
          <a:bodyPr wrap="square" lIns="762" tIns="762" rIns="762" bIns="762"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LEARN</a:t>
            </a:r>
            <a:endParaRPr lang="en-US" sz="1050" dirty="0"/>
          </a:p>
          <a:p>
            <a:pPr marL="0" indent="0" algn="ctr">
              <a:buNone/>
            </a:pPr>
            <a:r>
              <a:rPr lang="en-US" sz="1050" b="1" dirty="0">
                <a:solidFill>
                  <a:srgbClr val="FFFFFF"/>
                </a:solidFill>
                <a:latin typeface="Aptos" pitchFamily="34" charset="0"/>
                <a:ea typeface="Aptos" pitchFamily="34" charset="-122"/>
                <a:cs typeface="Aptos" pitchFamily="34" charset="-120"/>
              </a:rPr>
              <a:t>KPI impact</a:t>
            </a:r>
            <a:endParaRPr lang="en-US" sz="1050" dirty="0"/>
          </a:p>
        </p:txBody>
      </p:sp>
      <p:sp>
        <p:nvSpPr>
          <p:cNvPr id="15" name="Text 13"/>
          <p:cNvSpPr/>
          <p:nvPr/>
        </p:nvSpPr>
        <p:spPr>
          <a:xfrm>
            <a:off x="868680" y="3977640"/>
            <a:ext cx="2834640" cy="164592"/>
          </a:xfrm>
          <a:prstGeom prst="rect">
            <a:avLst/>
          </a:prstGeom>
          <a:noFill/>
          <a:ln/>
        </p:spPr>
        <p:txBody>
          <a:bodyPr wrap="square" lIns="0" tIns="0" rIns="0" bIns="0" rtlCol="0" anchor="ctr">
            <a:normAutofit/>
          </a:bodyPr>
          <a:lstStyle/>
          <a:p>
            <a:pPr marL="0" indent="0">
              <a:buNone/>
            </a:pPr>
            <a:r>
              <a:rPr lang="en-US" sz="680" b="1" dirty="0">
                <a:solidFill>
                  <a:srgbClr val="16A34A"/>
                </a:solidFill>
                <a:latin typeface="Aptos" pitchFamily="34" charset="0"/>
                <a:ea typeface="Aptos" pitchFamily="34" charset="-122"/>
                <a:cs typeface="Aptos" pitchFamily="34" charset="-120"/>
              </a:rPr>
              <a:t>EXAMPLE DECISION LOGIC</a:t>
            </a:r>
            <a:endParaRPr lang="en-US" sz="680" dirty="0"/>
          </a:p>
        </p:txBody>
      </p:sp>
      <p:sp>
        <p:nvSpPr>
          <p:cNvPr id="16" name="Text 14"/>
          <p:cNvSpPr/>
          <p:nvPr/>
        </p:nvSpPr>
        <p:spPr>
          <a:xfrm>
            <a:off x="914400" y="4297680"/>
            <a:ext cx="5623560" cy="1417320"/>
          </a:xfrm>
          <a:prstGeom prst="rect">
            <a:avLst/>
          </a:prstGeom>
          <a:noFill/>
          <a:ln/>
        </p:spPr>
        <p:txBody>
          <a:bodyPr wrap="square" lIns="762" tIns="762" rIns="762" bIns="762" rtlCol="0" anchor="ctr">
            <a:normAutofit lnSpcReduction="10000"/>
          </a:bodyPr>
          <a:lstStyle/>
          <a:p>
            <a:r>
              <a:rPr lang="en-US" sz="1180" dirty="0">
                <a:solidFill>
                  <a:srgbClr val="334155"/>
                </a:solidFill>
                <a:latin typeface="Aptos" pitchFamily="34" charset="0"/>
                <a:ea typeface="Aptos" pitchFamily="34" charset="-122"/>
                <a:cs typeface="Aptos" pitchFamily="34" charset="-120"/>
              </a:rPr>
              <a:t>If Truck 07 is down, reassign Truck 03 from a near-complete job to a lagging high-priority ore job.</a:t>
            </a:r>
          </a:p>
          <a:p>
            <a:endParaRPr lang="en-US" sz="1180" dirty="0"/>
          </a:p>
          <a:p>
            <a:r>
              <a:rPr lang="en-US" sz="1180" dirty="0">
                <a:solidFill>
                  <a:srgbClr val="334155"/>
                </a:solidFill>
                <a:latin typeface="Aptos" pitchFamily="34" charset="0"/>
                <a:ea typeface="Aptos" pitchFamily="34" charset="-122"/>
                <a:cs typeface="Aptos" pitchFamily="34" charset="-120"/>
              </a:rPr>
              <a:t>If one destination is congested, reroute lower-priority movement to stockpile/dump where appropriate.</a:t>
            </a:r>
            <a:endParaRPr lang="en-US" sz="1180" dirty="0"/>
          </a:p>
          <a:p>
            <a:endParaRPr lang="en-US" sz="1180" dirty="0">
              <a:solidFill>
                <a:srgbClr val="334155"/>
              </a:solidFill>
              <a:latin typeface="Aptos" pitchFamily="34" charset="0"/>
              <a:ea typeface="Aptos" pitchFamily="34" charset="-122"/>
              <a:cs typeface="Aptos" pitchFamily="34" charset="-120"/>
            </a:endParaRPr>
          </a:p>
          <a:p>
            <a:r>
              <a:rPr lang="en-US" sz="1180" dirty="0">
                <a:solidFill>
                  <a:srgbClr val="334155"/>
                </a:solidFill>
                <a:latin typeface="Aptos" pitchFamily="34" charset="0"/>
                <a:ea typeface="Aptos" pitchFamily="34" charset="-122"/>
                <a:cs typeface="Aptos" pitchFamily="34" charset="-120"/>
              </a:rPr>
              <a:t>If a job’s attainment is far below target, increase available fleet allocation before the end of shift.</a:t>
            </a:r>
            <a:endParaRPr lang="en-US" sz="1180" dirty="0"/>
          </a:p>
        </p:txBody>
      </p:sp>
      <p:sp>
        <p:nvSpPr>
          <p:cNvPr id="17" name="Text 15"/>
          <p:cNvSpPr/>
          <p:nvPr/>
        </p:nvSpPr>
        <p:spPr>
          <a:xfrm>
            <a:off x="7086600" y="4251960"/>
            <a:ext cx="4434840" cy="841248"/>
          </a:xfrm>
          <a:prstGeom prst="rect">
            <a:avLst/>
          </a:prstGeom>
          <a:solidFill>
            <a:srgbClr val="FFFFFF"/>
          </a:solidFill>
          <a:ln w="13970">
            <a:solidFill>
              <a:srgbClr val="E5E7EB"/>
            </a:solidFill>
          </a:ln>
        </p:spPr>
        <p:txBody>
          <a:bodyPr wrap="square" lIns="91440" tIns="1651" rIns="1651" bIns="1651" rtlCol="0" anchor="ctr">
            <a:normAutofit/>
          </a:bodyPr>
          <a:lstStyle/>
          <a:p>
            <a:pPr marL="0" indent="0">
              <a:buNone/>
            </a:pPr>
            <a:r>
              <a:rPr lang="en-US" sz="1050" dirty="0">
                <a:solidFill>
                  <a:srgbClr val="334155"/>
                </a:solidFill>
                <a:latin typeface="Aptos" pitchFamily="34" charset="0"/>
                <a:ea typeface="Aptos" pitchFamily="34" charset="-122"/>
                <a:cs typeface="Aptos" pitchFamily="34" charset="-120"/>
              </a:rPr>
              <a:t>Learning outcome</a:t>
            </a:r>
            <a:endParaRPr lang="en-US" sz="1050" dirty="0"/>
          </a:p>
          <a:p>
            <a:pPr marL="0" indent="0">
              <a:buNone/>
            </a:pPr>
            <a:r>
              <a:rPr lang="en-US" sz="1050" dirty="0">
                <a:solidFill>
                  <a:srgbClr val="334155"/>
                </a:solidFill>
                <a:latin typeface="Aptos" pitchFamily="34" charset="0"/>
                <a:ea typeface="Aptos" pitchFamily="34" charset="-122"/>
                <a:cs typeface="Aptos" pitchFamily="34" charset="-120"/>
              </a:rPr>
              <a:t>Manual loop turns the system into a practice environment for operational judgment, not only a static calculation.</a:t>
            </a:r>
            <a:endParaRPr lang="en-US" sz="1050" dirty="0"/>
          </a:p>
        </p:txBody>
      </p:sp>
      <p:sp>
        <p:nvSpPr>
          <p:cNvPr id="18" name="Shape 16"/>
          <p:cNvSpPr/>
          <p:nvPr/>
        </p:nvSpPr>
        <p:spPr>
          <a:xfrm>
            <a:off x="7068128" y="4251960"/>
            <a:ext cx="73152" cy="841248"/>
          </a:xfrm>
          <a:prstGeom prst="rect">
            <a:avLst/>
          </a:prstGeom>
          <a:solidFill>
            <a:srgbClr val="7C3AED"/>
          </a:solidFill>
          <a:ln w="12700">
            <a:solidFill>
              <a:srgbClr val="7C3AED">
                <a:alpha val="0"/>
              </a:srgbClr>
            </a:solidFill>
            <a:prstDash val="solid"/>
          </a:ln>
        </p:spPr>
        <p:txBody>
          <a:bodyPr/>
          <a:lstStyle/>
          <a:p>
            <a:endParaRPr lang="en-US"/>
          </a:p>
        </p:txBody>
      </p:sp>
      <p:sp>
        <p:nvSpPr>
          <p:cNvPr id="25" name="Slide Number Placeholder 0"/>
          <p:cNvSpPr>
            <a:spLocks noGrp="1"/>
          </p:cNvSpPr>
          <p:nvPr>
            <p:ph type="sldNum" sz="quarter" idx="4294967295"/>
          </p:nvPr>
        </p:nvSpPr>
        <p:spPr>
          <a:xfrm>
            <a:off x="11384280" y="6528816"/>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274320"/>
            <a:ext cx="4206240" cy="201168"/>
          </a:xfrm>
          <a:prstGeom prst="rect">
            <a:avLst/>
          </a:prstGeom>
          <a:noFill/>
          <a:ln/>
        </p:spPr>
        <p:txBody>
          <a:bodyPr wrap="square" lIns="0" tIns="0" rIns="0" bIns="0" rtlCol="0" anchor="ctr"/>
          <a:lstStyle/>
          <a:p>
            <a:pPr marL="0" indent="0">
              <a:buNone/>
            </a:pPr>
            <a:r>
              <a:rPr lang="en-US" sz="850" b="1" dirty="0">
                <a:solidFill>
                  <a:srgbClr val="2563EB"/>
                </a:solidFill>
                <a:latin typeface="Aptos" pitchFamily="34" charset="0"/>
                <a:ea typeface="Aptos" pitchFamily="34" charset="-122"/>
                <a:cs typeface="Aptos" pitchFamily="34" charset="-120"/>
              </a:rPr>
              <a:t>Strategic interpretation</a:t>
            </a:r>
            <a:endParaRPr lang="en-US" sz="850" dirty="0"/>
          </a:p>
        </p:txBody>
      </p:sp>
      <p:sp>
        <p:nvSpPr>
          <p:cNvPr id="3" name="Text 1"/>
          <p:cNvSpPr/>
          <p:nvPr/>
        </p:nvSpPr>
        <p:spPr>
          <a:xfrm>
            <a:off x="566928" y="530352"/>
            <a:ext cx="7680960" cy="475488"/>
          </a:xfrm>
          <a:prstGeom prst="rect">
            <a:avLst/>
          </a:prstGeom>
          <a:noFill/>
          <a:ln/>
        </p:spPr>
        <p:txBody>
          <a:bodyPr wrap="square" lIns="0" tIns="0" rIns="0" bIns="0" rtlCol="0" anchor="ctr"/>
          <a:lstStyle/>
          <a:p>
            <a:pPr marL="0" indent="0">
              <a:buNone/>
            </a:pPr>
            <a:r>
              <a:rPr lang="en-US" sz="2200" b="1" dirty="0">
                <a:solidFill>
                  <a:srgbClr val="0F172A"/>
                </a:solidFill>
                <a:latin typeface="Aptos Display" pitchFamily="34" charset="0"/>
                <a:ea typeface="Aptos Display" pitchFamily="34" charset="-122"/>
                <a:cs typeface="Aptos Display" pitchFamily="34" charset="-120"/>
              </a:rPr>
              <a:t>From simulation results to CAPEX thinking</a:t>
            </a:r>
            <a:endParaRPr lang="en-US" sz="2200" dirty="0"/>
          </a:p>
        </p:txBody>
      </p:sp>
      <p:sp>
        <p:nvSpPr>
          <p:cNvPr id="4" name="Shape 2"/>
          <p:cNvSpPr/>
          <p:nvPr/>
        </p:nvSpPr>
        <p:spPr>
          <a:xfrm>
            <a:off x="566928" y="1078992"/>
            <a:ext cx="11064240" cy="0"/>
          </a:xfrm>
          <a:prstGeom prst="line">
            <a:avLst/>
          </a:prstGeom>
          <a:noFill/>
          <a:ln w="12700">
            <a:solidFill>
              <a:srgbClr val="E2E8F0"/>
            </a:solidFill>
            <a:prstDash val="solid"/>
          </a:ln>
        </p:spPr>
        <p:txBody>
          <a:bodyPr/>
          <a:lstStyle/>
          <a:p>
            <a:endParaRPr lang="en-US"/>
          </a:p>
        </p:txBody>
      </p:sp>
      <p:sp>
        <p:nvSpPr>
          <p:cNvPr id="6" name="Text 3"/>
          <p:cNvSpPr/>
          <p:nvPr/>
        </p:nvSpPr>
        <p:spPr>
          <a:xfrm>
            <a:off x="5440680" y="1261872"/>
            <a:ext cx="5760720" cy="868680"/>
          </a:xfrm>
          <a:prstGeom prst="rect">
            <a:avLst/>
          </a:prstGeom>
          <a:noFill/>
          <a:ln/>
        </p:spPr>
        <p:txBody>
          <a:bodyPr wrap="square" lIns="635" tIns="635" rIns="635" bIns="635" rtlCol="0" anchor="ctr">
            <a:normAutofit/>
          </a:bodyPr>
          <a:lstStyle/>
          <a:p>
            <a:pPr marL="0" indent="0">
              <a:buNone/>
            </a:pPr>
            <a:r>
              <a:rPr lang="en-US" sz="1800" b="1" dirty="0">
                <a:solidFill>
                  <a:srgbClr val="0F172A"/>
                </a:solidFill>
                <a:latin typeface="Aptos Display" pitchFamily="34" charset="0"/>
                <a:ea typeface="Aptos Display" pitchFamily="34" charset="-122"/>
                <a:cs typeface="Aptos Display" pitchFamily="34" charset="-120"/>
              </a:rPr>
              <a:t>A dispatcher simulation can become a practical lens for fleet-sizing and CAPEX trade-off thinking.</a:t>
            </a:r>
            <a:endParaRPr lang="en-US" sz="1800" dirty="0"/>
          </a:p>
        </p:txBody>
      </p:sp>
      <p:sp>
        <p:nvSpPr>
          <p:cNvPr id="7" name="Text 4"/>
          <p:cNvSpPr/>
          <p:nvPr/>
        </p:nvSpPr>
        <p:spPr>
          <a:xfrm>
            <a:off x="5440680" y="2468880"/>
            <a:ext cx="2743200" cy="164592"/>
          </a:xfrm>
          <a:prstGeom prst="rect">
            <a:avLst/>
          </a:prstGeom>
          <a:noFill/>
          <a:ln/>
        </p:spPr>
        <p:txBody>
          <a:bodyPr wrap="square" lIns="0" tIns="0" rIns="0" bIns="0" rtlCol="0" anchor="ctr">
            <a:normAutofit/>
          </a:bodyPr>
          <a:lstStyle/>
          <a:p>
            <a:pPr marL="0" indent="0">
              <a:buNone/>
            </a:pPr>
            <a:r>
              <a:rPr lang="en-US" sz="680" b="1" dirty="0">
                <a:solidFill>
                  <a:srgbClr val="2563EB"/>
                </a:solidFill>
                <a:latin typeface="Aptos" pitchFamily="34" charset="0"/>
                <a:ea typeface="Aptos" pitchFamily="34" charset="-122"/>
                <a:cs typeface="Aptos" pitchFamily="34" charset="-120"/>
              </a:rPr>
              <a:t>EXAMPLE INTERPRETATION</a:t>
            </a:r>
            <a:endParaRPr lang="en-US" sz="680" dirty="0"/>
          </a:p>
        </p:txBody>
      </p:sp>
      <p:sp>
        <p:nvSpPr>
          <p:cNvPr id="8" name="Text 5"/>
          <p:cNvSpPr/>
          <p:nvPr/>
        </p:nvSpPr>
        <p:spPr>
          <a:xfrm>
            <a:off x="5440680" y="2816352"/>
            <a:ext cx="2788920" cy="749808"/>
          </a:xfrm>
          <a:prstGeom prst="rect">
            <a:avLst/>
          </a:prstGeom>
          <a:solidFill>
            <a:srgbClr val="FFFFFF"/>
          </a:solidFill>
          <a:ln w="13970">
            <a:solidFill>
              <a:srgbClr val="E5E7EB"/>
            </a:solidFill>
          </a:ln>
        </p:spPr>
        <p:txBody>
          <a:bodyPr wrap="square" lIns="91440" tIns="1651" rIns="1651" bIns="1651" rtlCol="0" anchor="ctr">
            <a:normAutofit/>
          </a:bodyPr>
          <a:lstStyle/>
          <a:p>
            <a:pPr marL="0" indent="0">
              <a:buNone/>
            </a:pPr>
            <a:r>
              <a:rPr lang="en-US" sz="1050" b="1" dirty="0">
                <a:solidFill>
                  <a:srgbClr val="334155"/>
                </a:solidFill>
                <a:latin typeface="Aptos" pitchFamily="34" charset="0"/>
                <a:ea typeface="Aptos" pitchFamily="34" charset="-122"/>
                <a:cs typeface="Aptos" pitchFamily="34" charset="-120"/>
              </a:rPr>
              <a:t>Stress-test result</a:t>
            </a:r>
            <a:endParaRPr lang="en-US" sz="1050" b="1" dirty="0"/>
          </a:p>
          <a:p>
            <a:pPr marL="0" indent="0">
              <a:buNone/>
            </a:pPr>
            <a:r>
              <a:rPr lang="en-US" sz="1050" dirty="0">
                <a:solidFill>
                  <a:srgbClr val="334155"/>
                </a:solidFill>
                <a:latin typeface="Aptos" pitchFamily="34" charset="0"/>
                <a:ea typeface="Aptos" pitchFamily="34" charset="-122"/>
                <a:cs typeface="Aptos" pitchFamily="34" charset="-120"/>
              </a:rPr>
              <a:t>Highest-tonnage period can be completed by 80 trucks in 15 hours despite disruption.</a:t>
            </a:r>
            <a:endParaRPr lang="en-US" sz="1050" dirty="0"/>
          </a:p>
        </p:txBody>
      </p:sp>
      <p:sp>
        <p:nvSpPr>
          <p:cNvPr id="9" name="Shape 6"/>
          <p:cNvSpPr/>
          <p:nvPr/>
        </p:nvSpPr>
        <p:spPr>
          <a:xfrm>
            <a:off x="5422208" y="2816352"/>
            <a:ext cx="73152" cy="749808"/>
          </a:xfrm>
          <a:prstGeom prst="rect">
            <a:avLst/>
          </a:prstGeom>
          <a:solidFill>
            <a:srgbClr val="2563EB"/>
          </a:solidFill>
          <a:ln w="12700">
            <a:solidFill>
              <a:srgbClr val="2563EB">
                <a:alpha val="0"/>
              </a:srgbClr>
            </a:solidFill>
            <a:prstDash val="solid"/>
          </a:ln>
        </p:spPr>
        <p:txBody>
          <a:bodyPr/>
          <a:lstStyle/>
          <a:p>
            <a:endParaRPr lang="en-US"/>
          </a:p>
        </p:txBody>
      </p:sp>
      <p:sp>
        <p:nvSpPr>
          <p:cNvPr id="10" name="Text 7"/>
          <p:cNvSpPr/>
          <p:nvPr/>
        </p:nvSpPr>
        <p:spPr>
          <a:xfrm>
            <a:off x="8430768" y="2816352"/>
            <a:ext cx="2788920" cy="749808"/>
          </a:xfrm>
          <a:prstGeom prst="rect">
            <a:avLst/>
          </a:prstGeom>
          <a:solidFill>
            <a:srgbClr val="FFFFFF"/>
          </a:solidFill>
          <a:ln w="13970">
            <a:solidFill>
              <a:srgbClr val="E5E7EB"/>
            </a:solidFill>
          </a:ln>
        </p:spPr>
        <p:txBody>
          <a:bodyPr wrap="square" lIns="91440" tIns="1651" rIns="1651" bIns="1651" rtlCol="0" anchor="ctr">
            <a:normAutofit/>
          </a:bodyPr>
          <a:lstStyle/>
          <a:p>
            <a:pPr marL="0" indent="0">
              <a:buNone/>
            </a:pPr>
            <a:r>
              <a:rPr lang="en-US" sz="1050" b="1" dirty="0">
                <a:solidFill>
                  <a:srgbClr val="334155"/>
                </a:solidFill>
                <a:latin typeface="Aptos" pitchFamily="34" charset="0"/>
                <a:ea typeface="Aptos" pitchFamily="34" charset="-122"/>
                <a:cs typeface="Aptos" pitchFamily="34" charset="-120"/>
              </a:rPr>
              <a:t>Option 1</a:t>
            </a:r>
            <a:endParaRPr lang="en-US" sz="1050" b="1" dirty="0"/>
          </a:p>
          <a:p>
            <a:pPr marL="0" indent="0">
              <a:buNone/>
            </a:pPr>
            <a:r>
              <a:rPr lang="en-US" sz="1050" dirty="0">
                <a:solidFill>
                  <a:srgbClr val="334155"/>
                </a:solidFill>
                <a:latin typeface="Aptos" pitchFamily="34" charset="0"/>
                <a:ea typeface="Aptos" pitchFamily="34" charset="-122"/>
                <a:cs typeface="Aptos" pitchFamily="34" charset="-120"/>
              </a:rPr>
              <a:t>Reduce truck count, accept longer process time, potentially reduce CAPEX.</a:t>
            </a:r>
            <a:endParaRPr lang="en-US" sz="1050" dirty="0"/>
          </a:p>
        </p:txBody>
      </p:sp>
      <p:sp>
        <p:nvSpPr>
          <p:cNvPr id="11" name="Shape 8"/>
          <p:cNvSpPr/>
          <p:nvPr/>
        </p:nvSpPr>
        <p:spPr>
          <a:xfrm>
            <a:off x="8412296" y="2816352"/>
            <a:ext cx="73152" cy="749808"/>
          </a:xfrm>
          <a:prstGeom prst="rect">
            <a:avLst/>
          </a:prstGeom>
          <a:solidFill>
            <a:srgbClr val="16A34A"/>
          </a:solidFill>
          <a:ln w="12700">
            <a:solidFill>
              <a:srgbClr val="16A34A">
                <a:alpha val="0"/>
              </a:srgbClr>
            </a:solidFill>
            <a:prstDash val="solid"/>
          </a:ln>
        </p:spPr>
        <p:txBody>
          <a:bodyPr/>
          <a:lstStyle/>
          <a:p>
            <a:endParaRPr lang="en-US"/>
          </a:p>
        </p:txBody>
      </p:sp>
      <p:sp>
        <p:nvSpPr>
          <p:cNvPr id="12" name="Text 9"/>
          <p:cNvSpPr/>
          <p:nvPr/>
        </p:nvSpPr>
        <p:spPr>
          <a:xfrm>
            <a:off x="5440680" y="3776472"/>
            <a:ext cx="2788920" cy="749808"/>
          </a:xfrm>
          <a:prstGeom prst="rect">
            <a:avLst/>
          </a:prstGeom>
          <a:solidFill>
            <a:srgbClr val="FFFFFF"/>
          </a:solidFill>
          <a:ln w="13970">
            <a:solidFill>
              <a:srgbClr val="E5E7EB"/>
            </a:solidFill>
          </a:ln>
        </p:spPr>
        <p:txBody>
          <a:bodyPr wrap="square" lIns="91440" tIns="1651" rIns="1651" bIns="1651" rtlCol="0" anchor="ctr">
            <a:normAutofit/>
          </a:bodyPr>
          <a:lstStyle/>
          <a:p>
            <a:pPr marL="0" indent="0">
              <a:buNone/>
            </a:pPr>
            <a:r>
              <a:rPr lang="en-US" sz="1050" b="1" dirty="0">
                <a:solidFill>
                  <a:srgbClr val="334155"/>
                </a:solidFill>
                <a:latin typeface="Aptos" pitchFamily="34" charset="0"/>
                <a:ea typeface="Aptos" pitchFamily="34" charset="-122"/>
                <a:cs typeface="Aptos" pitchFamily="34" charset="-120"/>
              </a:rPr>
              <a:t>Option 2</a:t>
            </a:r>
            <a:endParaRPr lang="en-US" sz="1050" b="1" dirty="0"/>
          </a:p>
          <a:p>
            <a:pPr marL="0" indent="0">
              <a:buNone/>
            </a:pPr>
            <a:r>
              <a:rPr lang="en-US" sz="1050" dirty="0">
                <a:solidFill>
                  <a:srgbClr val="334155"/>
                </a:solidFill>
                <a:latin typeface="Aptos" pitchFamily="34" charset="0"/>
                <a:ea typeface="Aptos" pitchFamily="34" charset="-122"/>
                <a:cs typeface="Aptos" pitchFamily="34" charset="-120"/>
              </a:rPr>
              <a:t>Increase fleet or redundancy, shorten recovery time, improve production reliability.</a:t>
            </a:r>
            <a:endParaRPr lang="en-US" sz="1050" dirty="0"/>
          </a:p>
        </p:txBody>
      </p:sp>
      <p:sp>
        <p:nvSpPr>
          <p:cNvPr id="13" name="Shape 10"/>
          <p:cNvSpPr/>
          <p:nvPr/>
        </p:nvSpPr>
        <p:spPr>
          <a:xfrm>
            <a:off x="5422208" y="3776472"/>
            <a:ext cx="73152" cy="749808"/>
          </a:xfrm>
          <a:prstGeom prst="rect">
            <a:avLst/>
          </a:prstGeom>
          <a:solidFill>
            <a:srgbClr val="EA580C"/>
          </a:solidFill>
          <a:ln w="12700">
            <a:solidFill>
              <a:srgbClr val="EA580C">
                <a:alpha val="0"/>
              </a:srgbClr>
            </a:solidFill>
            <a:prstDash val="solid"/>
          </a:ln>
        </p:spPr>
        <p:txBody>
          <a:bodyPr/>
          <a:lstStyle/>
          <a:p>
            <a:endParaRPr lang="en-US"/>
          </a:p>
        </p:txBody>
      </p:sp>
      <p:sp>
        <p:nvSpPr>
          <p:cNvPr id="14" name="Text 11"/>
          <p:cNvSpPr/>
          <p:nvPr/>
        </p:nvSpPr>
        <p:spPr>
          <a:xfrm>
            <a:off x="8430768" y="3776472"/>
            <a:ext cx="2788920" cy="749808"/>
          </a:xfrm>
          <a:prstGeom prst="rect">
            <a:avLst/>
          </a:prstGeom>
          <a:solidFill>
            <a:srgbClr val="FFFFFF"/>
          </a:solidFill>
          <a:ln w="13970">
            <a:solidFill>
              <a:srgbClr val="E5E7EB"/>
            </a:solidFill>
          </a:ln>
        </p:spPr>
        <p:txBody>
          <a:bodyPr wrap="square" lIns="91440" tIns="1651" rIns="1651" bIns="1651" rtlCol="0" anchor="ctr">
            <a:normAutofit/>
          </a:bodyPr>
          <a:lstStyle/>
          <a:p>
            <a:pPr marL="0" indent="0">
              <a:buNone/>
            </a:pPr>
            <a:r>
              <a:rPr lang="en-US" sz="1050" b="1" dirty="0">
                <a:solidFill>
                  <a:srgbClr val="334155"/>
                </a:solidFill>
                <a:latin typeface="Aptos" pitchFamily="34" charset="0"/>
                <a:ea typeface="Aptos" pitchFamily="34" charset="-122"/>
                <a:cs typeface="Aptos" pitchFamily="34" charset="-120"/>
              </a:rPr>
              <a:t>Management question</a:t>
            </a:r>
            <a:endParaRPr lang="en-US" sz="1050" b="1" dirty="0"/>
          </a:p>
          <a:p>
            <a:pPr marL="0" indent="0">
              <a:buNone/>
            </a:pPr>
            <a:r>
              <a:rPr lang="en-US" sz="1050" dirty="0">
                <a:solidFill>
                  <a:srgbClr val="334155"/>
                </a:solidFill>
                <a:latin typeface="Aptos" pitchFamily="34" charset="0"/>
                <a:ea typeface="Aptos" pitchFamily="34" charset="-122"/>
                <a:cs typeface="Aptos" pitchFamily="34" charset="-120"/>
              </a:rPr>
              <a:t>Which trade-off creates the best balance between CAPEX, production assurance and risk?</a:t>
            </a:r>
            <a:endParaRPr lang="en-US" sz="1050" dirty="0"/>
          </a:p>
        </p:txBody>
      </p:sp>
      <p:sp>
        <p:nvSpPr>
          <p:cNvPr id="15" name="Shape 12"/>
          <p:cNvSpPr/>
          <p:nvPr/>
        </p:nvSpPr>
        <p:spPr>
          <a:xfrm>
            <a:off x="8412296" y="3776472"/>
            <a:ext cx="73152" cy="749808"/>
          </a:xfrm>
          <a:prstGeom prst="rect">
            <a:avLst/>
          </a:prstGeom>
          <a:solidFill>
            <a:srgbClr val="7C3AED"/>
          </a:solidFill>
          <a:ln w="12700">
            <a:solidFill>
              <a:srgbClr val="7C3AED">
                <a:alpha val="0"/>
              </a:srgbClr>
            </a:solidFill>
            <a:prstDash val="solid"/>
          </a:ln>
        </p:spPr>
        <p:txBody>
          <a:bodyPr/>
          <a:lstStyle/>
          <a:p>
            <a:endParaRPr lang="en-US"/>
          </a:p>
        </p:txBody>
      </p:sp>
      <p:sp>
        <p:nvSpPr>
          <p:cNvPr id="16" name="Text 13"/>
          <p:cNvSpPr/>
          <p:nvPr/>
        </p:nvSpPr>
        <p:spPr>
          <a:xfrm>
            <a:off x="5440680" y="5047488"/>
            <a:ext cx="1737360" cy="685800"/>
          </a:xfrm>
          <a:prstGeom prst="rect">
            <a:avLst/>
          </a:prstGeom>
          <a:solidFill>
            <a:srgbClr val="F8FAFC"/>
          </a:solidFill>
          <a:ln w="10160">
            <a:solidFill>
              <a:srgbClr val="E2E8F0"/>
            </a:solidFill>
          </a:ln>
        </p:spPr>
        <p:txBody>
          <a:bodyPr wrap="square" lIns="91440" tIns="1016" rIns="1016" bIns="1016" rtlCol="0" anchor="ctr">
            <a:normAutofit/>
          </a:bodyPr>
          <a:lstStyle/>
          <a:p>
            <a:pPr marL="0" indent="0">
              <a:buNone/>
            </a:pPr>
            <a:r>
              <a:rPr lang="en-US" sz="2000" b="1" dirty="0">
                <a:solidFill>
                  <a:srgbClr val="2563EB"/>
                </a:solidFill>
                <a:latin typeface="Aptos Display" pitchFamily="34" charset="0"/>
                <a:ea typeface="Aptos Display" pitchFamily="34" charset="-122"/>
                <a:cs typeface="Aptos Display" pitchFamily="34" charset="-120"/>
              </a:rPr>
              <a:t>Fleet size</a:t>
            </a:r>
            <a:endParaRPr lang="en-US" sz="2000" dirty="0"/>
          </a:p>
          <a:p>
            <a:pPr marL="0" indent="0">
              <a:buNone/>
            </a:pPr>
            <a:r>
              <a:rPr lang="en-US" sz="2000" b="1" dirty="0">
                <a:solidFill>
                  <a:srgbClr val="2563EB"/>
                </a:solidFill>
                <a:latin typeface="Aptos Display" pitchFamily="34" charset="0"/>
                <a:ea typeface="Aptos Display" pitchFamily="34" charset="-122"/>
                <a:cs typeface="Aptos Display" pitchFamily="34" charset="-120"/>
              </a:rPr>
              <a:t>CAPEX lever</a:t>
            </a:r>
            <a:endParaRPr lang="en-US" sz="2000" dirty="0"/>
          </a:p>
        </p:txBody>
      </p:sp>
      <p:sp>
        <p:nvSpPr>
          <p:cNvPr id="17" name="Text 14"/>
          <p:cNvSpPr/>
          <p:nvPr/>
        </p:nvSpPr>
        <p:spPr>
          <a:xfrm>
            <a:off x="7388352" y="5047488"/>
            <a:ext cx="1737360" cy="685800"/>
          </a:xfrm>
          <a:prstGeom prst="rect">
            <a:avLst/>
          </a:prstGeom>
          <a:solidFill>
            <a:srgbClr val="F8FAFC"/>
          </a:solidFill>
          <a:ln w="10160">
            <a:solidFill>
              <a:srgbClr val="E2E8F0"/>
            </a:solidFill>
          </a:ln>
        </p:spPr>
        <p:txBody>
          <a:bodyPr wrap="square" lIns="91440" tIns="1016" rIns="1016" bIns="1016" rtlCol="0" anchor="ctr">
            <a:normAutofit/>
          </a:bodyPr>
          <a:lstStyle/>
          <a:p>
            <a:pPr marL="0" indent="0">
              <a:buNone/>
            </a:pPr>
            <a:r>
              <a:rPr lang="en-US" sz="2000" b="1" dirty="0">
                <a:solidFill>
                  <a:srgbClr val="EA580C"/>
                </a:solidFill>
                <a:latin typeface="Aptos Display" pitchFamily="34" charset="0"/>
                <a:ea typeface="Aptos Display" pitchFamily="34" charset="-122"/>
                <a:cs typeface="Aptos Display" pitchFamily="34" charset="-120"/>
              </a:rPr>
              <a:t>Shift hours</a:t>
            </a:r>
            <a:endParaRPr lang="en-US" sz="2000" dirty="0"/>
          </a:p>
          <a:p>
            <a:pPr marL="0" indent="0">
              <a:buNone/>
            </a:pPr>
            <a:r>
              <a:rPr lang="en-US" sz="2000" b="1" dirty="0">
                <a:solidFill>
                  <a:srgbClr val="EA580C"/>
                </a:solidFill>
                <a:latin typeface="Aptos Display" pitchFamily="34" charset="0"/>
                <a:ea typeface="Aptos Display" pitchFamily="34" charset="-122"/>
                <a:cs typeface="Aptos Display" pitchFamily="34" charset="-120"/>
              </a:rPr>
              <a:t>time lever</a:t>
            </a:r>
            <a:endParaRPr lang="en-US" sz="2000" dirty="0"/>
          </a:p>
        </p:txBody>
      </p:sp>
      <p:sp>
        <p:nvSpPr>
          <p:cNvPr id="18" name="Text 15"/>
          <p:cNvSpPr/>
          <p:nvPr/>
        </p:nvSpPr>
        <p:spPr>
          <a:xfrm>
            <a:off x="9326880" y="5047488"/>
            <a:ext cx="1737360" cy="685800"/>
          </a:xfrm>
          <a:prstGeom prst="rect">
            <a:avLst/>
          </a:prstGeom>
          <a:solidFill>
            <a:srgbClr val="F8FAFC"/>
          </a:solidFill>
          <a:ln w="10160">
            <a:solidFill>
              <a:srgbClr val="E2E8F0"/>
            </a:solidFill>
          </a:ln>
        </p:spPr>
        <p:txBody>
          <a:bodyPr wrap="square" lIns="91440" tIns="1016" rIns="1016" bIns="1016" rtlCol="0" anchor="ctr">
            <a:normAutofit/>
          </a:bodyPr>
          <a:lstStyle/>
          <a:p>
            <a:pPr marL="0" indent="0">
              <a:buNone/>
            </a:pPr>
            <a:r>
              <a:rPr lang="en-US" sz="2000" b="1" dirty="0">
                <a:solidFill>
                  <a:srgbClr val="16A34A"/>
                </a:solidFill>
                <a:latin typeface="Aptos Display" pitchFamily="34" charset="0"/>
                <a:ea typeface="Aptos Display" pitchFamily="34" charset="-122"/>
                <a:cs typeface="Aptos Display" pitchFamily="34" charset="-120"/>
              </a:rPr>
              <a:t>Resilience</a:t>
            </a:r>
            <a:endParaRPr lang="en-US" sz="2000" dirty="0"/>
          </a:p>
          <a:p>
            <a:pPr marL="0" indent="0">
              <a:buNone/>
            </a:pPr>
            <a:r>
              <a:rPr lang="en-US" sz="2000" b="1" dirty="0">
                <a:solidFill>
                  <a:srgbClr val="16A34A"/>
                </a:solidFill>
                <a:latin typeface="Aptos Display" pitchFamily="34" charset="0"/>
                <a:ea typeface="Aptos Display" pitchFamily="34" charset="-122"/>
                <a:cs typeface="Aptos Display" pitchFamily="34" charset="-120"/>
              </a:rPr>
              <a:t>risk lever</a:t>
            </a:r>
            <a:endParaRPr lang="en-US" sz="2000" dirty="0"/>
          </a:p>
        </p:txBody>
      </p:sp>
      <p:sp>
        <p:nvSpPr>
          <p:cNvPr id="25" name="Slide Number Placeholder 0"/>
          <p:cNvSpPr>
            <a:spLocks noGrp="1"/>
          </p:cNvSpPr>
          <p:nvPr>
            <p:ph type="sldNum" sz="quarter" idx="4294967295"/>
          </p:nvPr>
        </p:nvSpPr>
        <p:spPr>
          <a:xfrm>
            <a:off x="11384280" y="6528816"/>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lang="en-US" b="0"/>
              <a:t>11</a:t>
            </a:fld>
            <a:endParaRPr lang="en-US"/>
          </a:p>
        </p:txBody>
      </p:sp>
      <p:pic>
        <p:nvPicPr>
          <p:cNvPr id="26" name="Image 0" descr="/mnt/data/mineops_assets/pit_benches_trucks.jpg">
            <a:extLst>
              <a:ext uri="{FF2B5EF4-FFF2-40B4-BE49-F238E27FC236}">
                <a16:creationId xmlns:a16="http://schemas.microsoft.com/office/drawing/2014/main" id="{246057CF-95B0-59F0-4469-CC98AA097226}"/>
              </a:ext>
            </a:extLst>
          </p:cNvPr>
          <p:cNvPicPr>
            <a:picLocks noChangeAspect="1"/>
          </p:cNvPicPr>
          <p:nvPr/>
        </p:nvPicPr>
        <p:blipFill>
          <a:blip r:embed="rId3"/>
          <a:srcRect l="23402" r="23402"/>
          <a:stretch/>
        </p:blipFill>
        <p:spPr>
          <a:xfrm>
            <a:off x="566928" y="1197864"/>
            <a:ext cx="4160520" cy="52120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274320"/>
            <a:ext cx="4206240" cy="201168"/>
          </a:xfrm>
          <a:prstGeom prst="rect">
            <a:avLst/>
          </a:prstGeom>
          <a:noFill/>
          <a:ln/>
        </p:spPr>
        <p:txBody>
          <a:bodyPr wrap="square" lIns="0" tIns="0" rIns="0" bIns="0" rtlCol="0" anchor="ctr"/>
          <a:lstStyle/>
          <a:p>
            <a:pPr marL="0" indent="0">
              <a:buNone/>
            </a:pPr>
            <a:r>
              <a:rPr lang="en-US" sz="850" b="1" dirty="0">
                <a:solidFill>
                  <a:srgbClr val="2563EB"/>
                </a:solidFill>
                <a:latin typeface="Aptos" pitchFamily="34" charset="0"/>
                <a:ea typeface="Aptos" pitchFamily="34" charset="-122"/>
                <a:cs typeface="Aptos" pitchFamily="34" charset="-120"/>
              </a:rPr>
              <a:t>Professional acknowledgement</a:t>
            </a:r>
            <a:endParaRPr lang="en-US" sz="850" dirty="0"/>
          </a:p>
        </p:txBody>
      </p:sp>
      <p:sp>
        <p:nvSpPr>
          <p:cNvPr id="3" name="Text 1"/>
          <p:cNvSpPr/>
          <p:nvPr/>
        </p:nvSpPr>
        <p:spPr>
          <a:xfrm>
            <a:off x="566928" y="530352"/>
            <a:ext cx="7680960" cy="475488"/>
          </a:xfrm>
          <a:prstGeom prst="rect">
            <a:avLst/>
          </a:prstGeom>
          <a:noFill/>
          <a:ln/>
        </p:spPr>
        <p:txBody>
          <a:bodyPr wrap="square" lIns="0" tIns="0" rIns="0" bIns="0" rtlCol="0" anchor="ctr"/>
          <a:lstStyle/>
          <a:p>
            <a:pPr marL="0" indent="0">
              <a:buNone/>
            </a:pPr>
            <a:r>
              <a:rPr lang="en-US" sz="2200" b="1" dirty="0">
                <a:solidFill>
                  <a:srgbClr val="0F172A"/>
                </a:solidFill>
                <a:latin typeface="Aptos Display" pitchFamily="34" charset="0"/>
                <a:ea typeface="Aptos Display" pitchFamily="34" charset="-122"/>
                <a:cs typeface="Aptos Display" pitchFamily="34" charset="-120"/>
              </a:rPr>
              <a:t>What this project helped me learn</a:t>
            </a:r>
            <a:endParaRPr lang="en-US" sz="2200" dirty="0"/>
          </a:p>
        </p:txBody>
      </p:sp>
      <p:sp>
        <p:nvSpPr>
          <p:cNvPr id="4" name="Shape 2"/>
          <p:cNvSpPr/>
          <p:nvPr/>
        </p:nvSpPr>
        <p:spPr>
          <a:xfrm>
            <a:off x="566928" y="1078992"/>
            <a:ext cx="11064240" cy="0"/>
          </a:xfrm>
          <a:prstGeom prst="line">
            <a:avLst/>
          </a:prstGeom>
          <a:noFill/>
          <a:ln w="12700">
            <a:solidFill>
              <a:srgbClr val="E2E8F0"/>
            </a:solidFill>
            <a:prstDash val="solid"/>
          </a:ln>
        </p:spPr>
        <p:txBody>
          <a:bodyPr/>
          <a:lstStyle/>
          <a:p>
            <a:endParaRPr lang="en-US"/>
          </a:p>
        </p:txBody>
      </p:sp>
      <p:sp>
        <p:nvSpPr>
          <p:cNvPr id="5" name="Text 3"/>
          <p:cNvSpPr/>
          <p:nvPr/>
        </p:nvSpPr>
        <p:spPr>
          <a:xfrm>
            <a:off x="602676" y="1417320"/>
            <a:ext cx="2743200" cy="777240"/>
          </a:xfrm>
          <a:prstGeom prst="rect">
            <a:avLst/>
          </a:prstGeom>
          <a:solidFill>
            <a:srgbClr val="FFFFFF"/>
          </a:solidFill>
          <a:ln w="13970">
            <a:solidFill>
              <a:srgbClr val="E5E7EB"/>
            </a:solidFill>
          </a:ln>
        </p:spPr>
        <p:txBody>
          <a:bodyPr wrap="square" lIns="91440" tIns="1651" rIns="1651" bIns="1651" rtlCol="0" anchor="ctr">
            <a:normAutofit/>
          </a:bodyPr>
          <a:lstStyle/>
          <a:p>
            <a:pPr marL="0" indent="0">
              <a:buNone/>
            </a:pPr>
            <a:r>
              <a:rPr lang="en-US" sz="1050" b="1" dirty="0">
                <a:solidFill>
                  <a:srgbClr val="334155"/>
                </a:solidFill>
                <a:latin typeface="Aptos" pitchFamily="34" charset="0"/>
                <a:ea typeface="Aptos" pitchFamily="34" charset="-122"/>
                <a:cs typeface="Aptos" pitchFamily="34" charset="-120"/>
              </a:rPr>
              <a:t>Movement execution</a:t>
            </a:r>
            <a:endParaRPr lang="en-US" sz="1050" b="1" dirty="0"/>
          </a:p>
          <a:p>
            <a:pPr marL="0" indent="0">
              <a:buNone/>
            </a:pPr>
            <a:r>
              <a:rPr lang="en-US" sz="1050" dirty="0">
                <a:solidFill>
                  <a:srgbClr val="334155"/>
                </a:solidFill>
                <a:latin typeface="Aptos" pitchFamily="34" charset="0"/>
                <a:ea typeface="Aptos" pitchFamily="34" charset="-122"/>
                <a:cs typeface="Aptos" pitchFamily="34" charset="-120"/>
              </a:rPr>
              <a:t>Truck cycles, payload, shift time, route logic and destination service constraints.</a:t>
            </a:r>
            <a:endParaRPr lang="en-US" sz="1050" dirty="0"/>
          </a:p>
        </p:txBody>
      </p:sp>
      <p:sp>
        <p:nvSpPr>
          <p:cNvPr id="6" name="Shape 4"/>
          <p:cNvSpPr/>
          <p:nvPr/>
        </p:nvSpPr>
        <p:spPr>
          <a:xfrm>
            <a:off x="584204" y="1417320"/>
            <a:ext cx="73152" cy="777240"/>
          </a:xfrm>
          <a:prstGeom prst="rect">
            <a:avLst/>
          </a:prstGeom>
          <a:solidFill>
            <a:srgbClr val="2563EB"/>
          </a:solidFill>
          <a:ln w="12700">
            <a:solidFill>
              <a:srgbClr val="2563EB">
                <a:alpha val="0"/>
              </a:srgbClr>
            </a:solidFill>
            <a:prstDash val="solid"/>
          </a:ln>
        </p:spPr>
        <p:txBody>
          <a:bodyPr/>
          <a:lstStyle/>
          <a:p>
            <a:endParaRPr lang="en-US"/>
          </a:p>
        </p:txBody>
      </p:sp>
      <p:sp>
        <p:nvSpPr>
          <p:cNvPr id="7" name="Text 5"/>
          <p:cNvSpPr/>
          <p:nvPr/>
        </p:nvSpPr>
        <p:spPr>
          <a:xfrm>
            <a:off x="3620196" y="1417320"/>
            <a:ext cx="2743200" cy="777240"/>
          </a:xfrm>
          <a:prstGeom prst="rect">
            <a:avLst/>
          </a:prstGeom>
          <a:solidFill>
            <a:srgbClr val="FFFFFF"/>
          </a:solidFill>
          <a:ln w="13970">
            <a:solidFill>
              <a:srgbClr val="E5E7EB"/>
            </a:solidFill>
          </a:ln>
        </p:spPr>
        <p:txBody>
          <a:bodyPr wrap="square" lIns="91440" tIns="1651" rIns="1651" bIns="1651" rtlCol="0" anchor="ctr">
            <a:normAutofit/>
          </a:bodyPr>
          <a:lstStyle/>
          <a:p>
            <a:pPr marL="0" indent="0">
              <a:buNone/>
            </a:pPr>
            <a:r>
              <a:rPr lang="en-US" sz="1050" b="1" dirty="0">
                <a:solidFill>
                  <a:srgbClr val="334155"/>
                </a:solidFill>
                <a:latin typeface="Aptos" pitchFamily="34" charset="0"/>
                <a:ea typeface="Aptos" pitchFamily="34" charset="-122"/>
                <a:cs typeface="Aptos" pitchFamily="34" charset="-120"/>
              </a:rPr>
              <a:t>Operational uncertainty</a:t>
            </a:r>
            <a:endParaRPr lang="en-US" sz="1050" b="1" dirty="0"/>
          </a:p>
          <a:p>
            <a:pPr marL="0" indent="0">
              <a:buNone/>
            </a:pPr>
            <a:r>
              <a:rPr lang="en-US" sz="1050" dirty="0">
                <a:solidFill>
                  <a:srgbClr val="334155"/>
                </a:solidFill>
                <a:latin typeface="Aptos" pitchFamily="34" charset="0"/>
                <a:ea typeface="Aptos" pitchFamily="34" charset="-122"/>
                <a:cs typeface="Aptos" pitchFamily="34" charset="-120"/>
              </a:rPr>
              <a:t>Breakdowns, road closure, weather slowdown, queue formation and recovery actions.</a:t>
            </a:r>
            <a:endParaRPr lang="en-US" sz="1050" dirty="0"/>
          </a:p>
        </p:txBody>
      </p:sp>
      <p:sp>
        <p:nvSpPr>
          <p:cNvPr id="8" name="Shape 6"/>
          <p:cNvSpPr/>
          <p:nvPr/>
        </p:nvSpPr>
        <p:spPr>
          <a:xfrm>
            <a:off x="3601724" y="1417320"/>
            <a:ext cx="73152" cy="777240"/>
          </a:xfrm>
          <a:prstGeom prst="rect">
            <a:avLst/>
          </a:prstGeom>
          <a:solidFill>
            <a:srgbClr val="DC2626"/>
          </a:solidFill>
          <a:ln w="12700">
            <a:solidFill>
              <a:srgbClr val="DC2626">
                <a:alpha val="0"/>
              </a:srgbClr>
            </a:solidFill>
            <a:prstDash val="solid"/>
          </a:ln>
        </p:spPr>
        <p:txBody>
          <a:bodyPr/>
          <a:lstStyle/>
          <a:p>
            <a:endParaRPr lang="en-US"/>
          </a:p>
        </p:txBody>
      </p:sp>
      <p:sp>
        <p:nvSpPr>
          <p:cNvPr id="9" name="Text 7"/>
          <p:cNvSpPr/>
          <p:nvPr/>
        </p:nvSpPr>
        <p:spPr>
          <a:xfrm>
            <a:off x="6637716" y="1417320"/>
            <a:ext cx="2743200" cy="777240"/>
          </a:xfrm>
          <a:prstGeom prst="rect">
            <a:avLst/>
          </a:prstGeom>
          <a:solidFill>
            <a:srgbClr val="FFFFFF"/>
          </a:solidFill>
          <a:ln w="13970">
            <a:solidFill>
              <a:srgbClr val="E5E7EB"/>
            </a:solidFill>
          </a:ln>
        </p:spPr>
        <p:txBody>
          <a:bodyPr wrap="square" lIns="91440" tIns="1651" rIns="1651" bIns="1651" rtlCol="0" anchor="ctr">
            <a:normAutofit/>
          </a:bodyPr>
          <a:lstStyle/>
          <a:p>
            <a:pPr marL="0" indent="0">
              <a:buNone/>
            </a:pPr>
            <a:r>
              <a:rPr lang="en-US" sz="1050" b="1" dirty="0">
                <a:solidFill>
                  <a:srgbClr val="334155"/>
                </a:solidFill>
                <a:latin typeface="Aptos" pitchFamily="34" charset="0"/>
                <a:ea typeface="Aptos" pitchFamily="34" charset="-122"/>
                <a:cs typeface="Aptos" pitchFamily="34" charset="-120"/>
              </a:rPr>
              <a:t>Dispatch management</a:t>
            </a:r>
            <a:endParaRPr lang="en-US" sz="1050" b="1" dirty="0"/>
          </a:p>
          <a:p>
            <a:pPr marL="0" indent="0">
              <a:buNone/>
            </a:pPr>
            <a:r>
              <a:rPr lang="en-US" sz="1050" dirty="0">
                <a:solidFill>
                  <a:srgbClr val="334155"/>
                </a:solidFill>
                <a:latin typeface="Aptos" pitchFamily="34" charset="0"/>
                <a:ea typeface="Aptos" pitchFamily="34" charset="-122"/>
                <a:cs typeface="Aptos" pitchFamily="34" charset="-120"/>
              </a:rPr>
              <a:t>Manual reassignment, live loop monitoring and protecting lagging priority jobs.</a:t>
            </a:r>
            <a:endParaRPr lang="en-US" sz="1050" dirty="0"/>
          </a:p>
        </p:txBody>
      </p:sp>
      <p:sp>
        <p:nvSpPr>
          <p:cNvPr id="10" name="Shape 8"/>
          <p:cNvSpPr/>
          <p:nvPr/>
        </p:nvSpPr>
        <p:spPr>
          <a:xfrm>
            <a:off x="6619244" y="1417320"/>
            <a:ext cx="73152" cy="777240"/>
          </a:xfrm>
          <a:prstGeom prst="rect">
            <a:avLst/>
          </a:prstGeom>
          <a:solidFill>
            <a:srgbClr val="EA580C"/>
          </a:solidFill>
          <a:ln w="12700">
            <a:solidFill>
              <a:srgbClr val="EA580C">
                <a:alpha val="0"/>
              </a:srgbClr>
            </a:solidFill>
            <a:prstDash val="solid"/>
          </a:ln>
        </p:spPr>
        <p:txBody>
          <a:bodyPr/>
          <a:lstStyle/>
          <a:p>
            <a:endParaRPr lang="en-US"/>
          </a:p>
        </p:txBody>
      </p:sp>
      <p:sp>
        <p:nvSpPr>
          <p:cNvPr id="11" name="Text 9"/>
          <p:cNvSpPr/>
          <p:nvPr/>
        </p:nvSpPr>
        <p:spPr>
          <a:xfrm>
            <a:off x="9655235" y="1417320"/>
            <a:ext cx="2315095" cy="777240"/>
          </a:xfrm>
          <a:prstGeom prst="rect">
            <a:avLst/>
          </a:prstGeom>
          <a:solidFill>
            <a:srgbClr val="FFFFFF"/>
          </a:solidFill>
          <a:ln w="13970">
            <a:solidFill>
              <a:srgbClr val="E5E7EB"/>
            </a:solidFill>
          </a:ln>
        </p:spPr>
        <p:txBody>
          <a:bodyPr wrap="square" lIns="91440" tIns="1651" rIns="1651" bIns="1651" rtlCol="0" anchor="ctr">
            <a:normAutofit/>
          </a:bodyPr>
          <a:lstStyle/>
          <a:p>
            <a:pPr marL="0" indent="0">
              <a:buNone/>
            </a:pPr>
            <a:r>
              <a:rPr lang="en-US" sz="1050" b="1" dirty="0">
                <a:solidFill>
                  <a:srgbClr val="334155"/>
                </a:solidFill>
                <a:latin typeface="Aptos" pitchFamily="34" charset="0"/>
                <a:ea typeface="Aptos" pitchFamily="34" charset="-122"/>
                <a:cs typeface="Aptos" pitchFamily="34" charset="-120"/>
              </a:rPr>
              <a:t>Value-aware movement</a:t>
            </a:r>
            <a:endParaRPr lang="en-US" sz="1050" b="1" dirty="0"/>
          </a:p>
          <a:p>
            <a:pPr marL="0" indent="0">
              <a:buNone/>
            </a:pPr>
            <a:r>
              <a:rPr lang="en-US" sz="1050" dirty="0">
                <a:solidFill>
                  <a:srgbClr val="334155"/>
                </a:solidFill>
                <a:latin typeface="Aptos" pitchFamily="34" charset="0"/>
                <a:ea typeface="Aptos" pitchFamily="34" charset="-122"/>
                <a:cs typeface="Aptos" pitchFamily="34" charset="-120"/>
              </a:rPr>
              <a:t>Ore vs waste, stockpile readiness, plant-feed protection and value-weighted attainment.</a:t>
            </a:r>
            <a:endParaRPr lang="en-US" sz="1050" dirty="0"/>
          </a:p>
        </p:txBody>
      </p:sp>
      <p:sp>
        <p:nvSpPr>
          <p:cNvPr id="12" name="Shape 10"/>
          <p:cNvSpPr/>
          <p:nvPr/>
        </p:nvSpPr>
        <p:spPr>
          <a:xfrm>
            <a:off x="9636764" y="1417320"/>
            <a:ext cx="73152" cy="777240"/>
          </a:xfrm>
          <a:prstGeom prst="rect">
            <a:avLst/>
          </a:prstGeom>
          <a:solidFill>
            <a:srgbClr val="16A34A"/>
          </a:solidFill>
          <a:ln w="12700">
            <a:solidFill>
              <a:srgbClr val="16A34A">
                <a:alpha val="0"/>
              </a:srgbClr>
            </a:solidFill>
            <a:prstDash val="solid"/>
          </a:ln>
        </p:spPr>
        <p:txBody>
          <a:bodyPr/>
          <a:lstStyle/>
          <a:p>
            <a:endParaRPr lang="en-US"/>
          </a:p>
        </p:txBody>
      </p:sp>
      <p:sp>
        <p:nvSpPr>
          <p:cNvPr id="13" name="Text 11"/>
          <p:cNvSpPr/>
          <p:nvPr/>
        </p:nvSpPr>
        <p:spPr>
          <a:xfrm>
            <a:off x="713232" y="2788920"/>
            <a:ext cx="2926080" cy="164592"/>
          </a:xfrm>
          <a:prstGeom prst="rect">
            <a:avLst/>
          </a:prstGeom>
          <a:noFill/>
          <a:ln/>
        </p:spPr>
        <p:txBody>
          <a:bodyPr wrap="square" lIns="0" tIns="0" rIns="0" bIns="0" rtlCol="0" anchor="ctr">
            <a:normAutofit/>
          </a:bodyPr>
          <a:lstStyle/>
          <a:p>
            <a:pPr marL="0" indent="0">
              <a:buNone/>
            </a:pPr>
            <a:r>
              <a:rPr lang="en-US" sz="680" b="1" dirty="0">
                <a:solidFill>
                  <a:srgbClr val="7C3AED"/>
                </a:solidFill>
                <a:latin typeface="Aptos" pitchFamily="34" charset="0"/>
                <a:ea typeface="Aptos" pitchFamily="34" charset="-122"/>
                <a:cs typeface="Aptos" pitchFamily="34" charset="-120"/>
              </a:rPr>
              <a:t>MINE PLANNING PROJECT ROADMAP</a:t>
            </a:r>
            <a:endParaRPr lang="en-US" sz="680" dirty="0"/>
          </a:p>
        </p:txBody>
      </p:sp>
      <p:sp>
        <p:nvSpPr>
          <p:cNvPr id="14" name="Text 12"/>
          <p:cNvSpPr/>
          <p:nvPr/>
        </p:nvSpPr>
        <p:spPr>
          <a:xfrm>
            <a:off x="777240" y="3246120"/>
            <a:ext cx="1965960" cy="621792"/>
          </a:xfrm>
          <a:prstGeom prst="rect">
            <a:avLst/>
          </a:prstGeom>
          <a:solidFill>
            <a:srgbClr val="2563EB"/>
          </a:solidFill>
          <a:ln>
            <a:solidFill>
              <a:srgbClr val="2563EB">
                <a:alpha val="0"/>
              </a:srgbClr>
            </a:solidFill>
          </a:ln>
        </p:spPr>
        <p:txBody>
          <a:bodyPr wrap="square" lIns="762" tIns="762" rIns="762" bIns="762"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MineValue 360</a:t>
            </a:r>
            <a:endParaRPr lang="en-US" sz="1050" dirty="0"/>
          </a:p>
          <a:p>
            <a:pPr marL="0" indent="0" algn="ctr">
              <a:buNone/>
            </a:pPr>
            <a:r>
              <a:rPr lang="en-US" sz="1050" b="1" dirty="0">
                <a:solidFill>
                  <a:srgbClr val="FFFFFF"/>
                </a:solidFill>
                <a:latin typeface="Aptos" pitchFamily="34" charset="0"/>
                <a:ea typeface="Aptos" pitchFamily="34" charset="-122"/>
                <a:cs typeface="Aptos" pitchFamily="34" charset="-120"/>
              </a:rPr>
              <a:t>block value &amp; schedule</a:t>
            </a:r>
            <a:endParaRPr lang="en-US" sz="1050" dirty="0"/>
          </a:p>
        </p:txBody>
      </p:sp>
      <p:sp>
        <p:nvSpPr>
          <p:cNvPr id="15" name="Shape 13"/>
          <p:cNvSpPr/>
          <p:nvPr/>
        </p:nvSpPr>
        <p:spPr>
          <a:xfrm>
            <a:off x="2880360" y="3557016"/>
            <a:ext cx="612648" cy="0"/>
          </a:xfrm>
          <a:prstGeom prst="line">
            <a:avLst/>
          </a:prstGeom>
          <a:noFill/>
          <a:ln w="16510">
            <a:solidFill>
              <a:srgbClr val="64748B"/>
            </a:solidFill>
            <a:prstDash val="solid"/>
            <a:headEnd type="none"/>
            <a:tailEnd type="triangle"/>
          </a:ln>
        </p:spPr>
        <p:txBody>
          <a:bodyPr/>
          <a:lstStyle/>
          <a:p>
            <a:endParaRPr lang="en-US"/>
          </a:p>
        </p:txBody>
      </p:sp>
      <p:sp>
        <p:nvSpPr>
          <p:cNvPr id="16" name="Text 14"/>
          <p:cNvSpPr/>
          <p:nvPr/>
        </p:nvSpPr>
        <p:spPr>
          <a:xfrm>
            <a:off x="3639312" y="3246120"/>
            <a:ext cx="1965960" cy="621792"/>
          </a:xfrm>
          <a:prstGeom prst="rect">
            <a:avLst/>
          </a:prstGeom>
          <a:solidFill>
            <a:srgbClr val="EA580C"/>
          </a:solidFill>
          <a:ln>
            <a:solidFill>
              <a:srgbClr val="EA580C">
                <a:alpha val="0"/>
              </a:srgbClr>
            </a:solidFill>
          </a:ln>
        </p:spPr>
        <p:txBody>
          <a:bodyPr wrap="square" lIns="762" tIns="762" rIns="762" bIns="762"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MineOps 360</a:t>
            </a:r>
            <a:endParaRPr lang="en-US" sz="1050" dirty="0"/>
          </a:p>
          <a:p>
            <a:pPr marL="0" indent="0" algn="ctr">
              <a:buNone/>
            </a:pPr>
            <a:r>
              <a:rPr lang="en-US" sz="1050" b="1" dirty="0">
                <a:solidFill>
                  <a:srgbClr val="FFFFFF"/>
                </a:solidFill>
                <a:latin typeface="Aptos" pitchFamily="34" charset="0"/>
                <a:ea typeface="Aptos" pitchFamily="34" charset="-122"/>
                <a:cs typeface="Aptos" pitchFamily="34" charset="-120"/>
              </a:rPr>
              <a:t>movement &amp; dispatch</a:t>
            </a:r>
            <a:endParaRPr lang="en-US" sz="1050" dirty="0"/>
          </a:p>
        </p:txBody>
      </p:sp>
      <p:sp>
        <p:nvSpPr>
          <p:cNvPr id="17" name="Shape 15"/>
          <p:cNvSpPr/>
          <p:nvPr/>
        </p:nvSpPr>
        <p:spPr>
          <a:xfrm>
            <a:off x="5742432" y="3557016"/>
            <a:ext cx="612648" cy="0"/>
          </a:xfrm>
          <a:prstGeom prst="line">
            <a:avLst/>
          </a:prstGeom>
          <a:noFill/>
          <a:ln w="16510">
            <a:solidFill>
              <a:srgbClr val="64748B"/>
            </a:solidFill>
            <a:prstDash val="solid"/>
            <a:headEnd type="none"/>
            <a:tailEnd type="triangle"/>
          </a:ln>
        </p:spPr>
        <p:txBody>
          <a:bodyPr/>
          <a:lstStyle/>
          <a:p>
            <a:endParaRPr lang="en-US"/>
          </a:p>
        </p:txBody>
      </p:sp>
      <p:sp>
        <p:nvSpPr>
          <p:cNvPr id="18" name="Text 16"/>
          <p:cNvSpPr/>
          <p:nvPr/>
        </p:nvSpPr>
        <p:spPr>
          <a:xfrm>
            <a:off x="6492240" y="3246120"/>
            <a:ext cx="1965960" cy="621792"/>
          </a:xfrm>
          <a:prstGeom prst="rect">
            <a:avLst/>
          </a:prstGeom>
          <a:solidFill>
            <a:srgbClr val="16A34A"/>
          </a:solidFill>
          <a:ln>
            <a:solidFill>
              <a:srgbClr val="16A34A">
                <a:alpha val="0"/>
              </a:srgbClr>
            </a:solidFill>
          </a:ln>
        </p:spPr>
        <p:txBody>
          <a:bodyPr wrap="square" lIns="762" tIns="762" rIns="762" bIns="762"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BlendFeed 360</a:t>
            </a:r>
            <a:endParaRPr lang="en-US" sz="1050" dirty="0"/>
          </a:p>
          <a:p>
            <a:pPr marL="0" indent="0" algn="ctr">
              <a:buNone/>
            </a:pPr>
            <a:r>
              <a:rPr lang="en-US" sz="1050" b="1" dirty="0">
                <a:solidFill>
                  <a:srgbClr val="FFFFFF"/>
                </a:solidFill>
                <a:latin typeface="Aptos" pitchFamily="34" charset="0"/>
                <a:ea typeface="Aptos" pitchFamily="34" charset="-122"/>
                <a:cs typeface="Aptos" pitchFamily="34" charset="-120"/>
              </a:rPr>
              <a:t>chemistry recipe</a:t>
            </a:r>
            <a:endParaRPr lang="en-US" sz="1050" dirty="0"/>
          </a:p>
        </p:txBody>
      </p:sp>
      <p:sp>
        <p:nvSpPr>
          <p:cNvPr id="19" name="Shape 17"/>
          <p:cNvSpPr/>
          <p:nvPr/>
        </p:nvSpPr>
        <p:spPr>
          <a:xfrm>
            <a:off x="8595360" y="3557016"/>
            <a:ext cx="612648" cy="0"/>
          </a:xfrm>
          <a:prstGeom prst="line">
            <a:avLst/>
          </a:prstGeom>
          <a:noFill/>
          <a:ln w="16510">
            <a:solidFill>
              <a:srgbClr val="64748B"/>
            </a:solidFill>
            <a:prstDash val="solid"/>
            <a:headEnd type="none"/>
            <a:tailEnd type="triangle"/>
          </a:ln>
        </p:spPr>
        <p:txBody>
          <a:bodyPr/>
          <a:lstStyle/>
          <a:p>
            <a:endParaRPr lang="en-US"/>
          </a:p>
        </p:txBody>
      </p:sp>
      <p:sp>
        <p:nvSpPr>
          <p:cNvPr id="20" name="Text 18"/>
          <p:cNvSpPr/>
          <p:nvPr/>
        </p:nvSpPr>
        <p:spPr>
          <a:xfrm>
            <a:off x="9345168" y="3246120"/>
            <a:ext cx="1965960" cy="621792"/>
          </a:xfrm>
          <a:prstGeom prst="rect">
            <a:avLst/>
          </a:prstGeom>
          <a:solidFill>
            <a:srgbClr val="7C3AED"/>
          </a:solidFill>
          <a:ln>
            <a:solidFill>
              <a:srgbClr val="7C3AED">
                <a:alpha val="0"/>
              </a:srgbClr>
            </a:solidFill>
          </a:ln>
        </p:spPr>
        <p:txBody>
          <a:bodyPr wrap="square" lIns="762" tIns="762" rIns="762" bIns="762" rtlCol="0" anchor="ctr">
            <a:normAutofit/>
          </a:bodyPr>
          <a:lstStyle/>
          <a:p>
            <a:pPr marL="0" indent="0" algn="ctr">
              <a:buNone/>
            </a:pPr>
            <a:r>
              <a:rPr lang="en-US" sz="1050" b="1" dirty="0">
                <a:solidFill>
                  <a:srgbClr val="FFFFFF"/>
                </a:solidFill>
                <a:latin typeface="Aptos" pitchFamily="34" charset="0"/>
              </a:rPr>
              <a:t>…..</a:t>
            </a:r>
            <a:endParaRPr lang="en-US" sz="1050" dirty="0"/>
          </a:p>
          <a:p>
            <a:pPr marL="0" indent="0" algn="ctr">
              <a:buNone/>
            </a:pPr>
            <a:r>
              <a:rPr lang="en-US" sz="1050" b="1" dirty="0">
                <a:solidFill>
                  <a:srgbClr val="FFFFFF"/>
                </a:solidFill>
                <a:latin typeface="Aptos" pitchFamily="34" charset="0"/>
                <a:ea typeface="Aptos" pitchFamily="34" charset="-122"/>
                <a:cs typeface="Aptos" pitchFamily="34" charset="-120"/>
              </a:rPr>
              <a:t>Coming Soon.</a:t>
            </a:r>
            <a:endParaRPr lang="en-US" sz="1050" dirty="0"/>
          </a:p>
        </p:txBody>
      </p:sp>
      <p:sp>
        <p:nvSpPr>
          <p:cNvPr id="21" name="Text 19"/>
          <p:cNvSpPr/>
          <p:nvPr/>
        </p:nvSpPr>
        <p:spPr>
          <a:xfrm>
            <a:off x="777240" y="4617720"/>
            <a:ext cx="8412480" cy="822960"/>
          </a:xfrm>
          <a:prstGeom prst="rect">
            <a:avLst/>
          </a:prstGeom>
          <a:noFill/>
          <a:ln/>
        </p:spPr>
        <p:txBody>
          <a:bodyPr wrap="square" lIns="635" tIns="635" rIns="635" bIns="635" rtlCol="0" anchor="ctr">
            <a:normAutofit/>
          </a:bodyPr>
          <a:lstStyle/>
          <a:p>
            <a:pPr marL="0" indent="0">
              <a:buNone/>
            </a:pPr>
            <a:r>
              <a:rPr lang="en-US" sz="1800" b="1" dirty="0">
                <a:solidFill>
                  <a:srgbClr val="0F172A"/>
                </a:solidFill>
                <a:latin typeface="Aptos Display" pitchFamily="34" charset="0"/>
                <a:ea typeface="Aptos Display" pitchFamily="34" charset="-122"/>
                <a:cs typeface="Aptos Display" pitchFamily="34" charset="-120"/>
              </a:rPr>
              <a:t>MineOps 360 is not a claim of operational expertise — it is proof of serious learning, structured curiosity and execution discipline.</a:t>
            </a:r>
            <a:endParaRPr lang="en-US" sz="1800" dirty="0"/>
          </a:p>
        </p:txBody>
      </p:sp>
      <p:sp>
        <p:nvSpPr>
          <p:cNvPr id="25" name="Slide Number Placeholder 0"/>
          <p:cNvSpPr>
            <a:spLocks noGrp="1"/>
          </p:cNvSpPr>
          <p:nvPr>
            <p:ph type="sldNum" sz="quarter" idx="4294967295"/>
          </p:nvPr>
        </p:nvSpPr>
        <p:spPr>
          <a:xfrm>
            <a:off x="11384280" y="6528816"/>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64748B"/>
                </a:solidFill>
                <a:latin typeface="Aptos"/>
                <a:ea typeface="Aptos"/>
                <a:cs typeface="Aptos"/>
              </a:defRPr>
            </a:lvl1pPr>
          </a:lstStyle>
          <a:p>
            <a:pPr algn="l"/>
            <a:fld id="{F7021451-1387-4CA6-816F-3879F97B5CBC}" type="slidenum">
              <a:rPr lang="en-US" b="0"/>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172</TotalTime>
  <Words>1812</Words>
  <Application>Microsoft Office PowerPoint</Application>
  <PresentationFormat>Widescreen</PresentationFormat>
  <Paragraphs>246</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Mine Planning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MineOps 360 — Professional Learning Course</dc:title>
  <dc:subject>MineOps 360 professional learning course</dc:subject>
  <dc:creator>OpenAI</dc:creator>
  <cp:lastModifiedBy>REVALDI SUMA REVIKANSYAH</cp:lastModifiedBy>
  <cp:revision>4</cp:revision>
  <dcterms:created xsi:type="dcterms:W3CDTF">2026-06-26T15:42:36Z</dcterms:created>
  <dcterms:modified xsi:type="dcterms:W3CDTF">2026-08-12T13:52:46Z</dcterms:modified>
</cp:coreProperties>
</file>